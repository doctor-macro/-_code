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2103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 初心者向け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1261872"/>
            <a:ext cx="56692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その他の基本操作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説明用スライド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2377440"/>
            <a:ext cx="7498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ショートカット以外に押さえるべき「表の作り方」「データ整理」「印刷・グラフ」「ミス防止」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863840" y="969264"/>
            <a:ext cx="1325880" cy="292608"/>
          </a:xfrm>
          <a:prstGeom prst="rect">
            <a:avLst/>
          </a:prstGeom>
          <a:solidFill>
            <a:srgbClr val="DDF3E7"/>
          </a:solidFill>
          <a:ln w="8890">
            <a:solidFill>
              <a:srgbClr val="DDF3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18704" y="1014984"/>
            <a:ext cx="121615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表の基本構造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869680" y="1627632"/>
            <a:ext cx="1234440" cy="292608"/>
          </a:xfrm>
          <a:prstGeom prst="rect">
            <a:avLst/>
          </a:prstGeom>
          <a:solidFill>
            <a:srgbClr val="FFF2C6"/>
          </a:solidFill>
          <a:ln w="8890">
            <a:solidFill>
              <a:srgbClr val="FFF2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24544" y="1673352"/>
            <a:ext cx="112471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651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入力と書式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183880" y="2249424"/>
            <a:ext cx="1417320" cy="292608"/>
          </a:xfrm>
          <a:prstGeom prst="rect">
            <a:avLst/>
          </a:prstGeom>
          <a:solidFill>
            <a:srgbClr val="E9EFFF"/>
          </a:solidFill>
          <a:ln w="8890">
            <a:solidFill>
              <a:srgbClr val="E9E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38744" y="2295144"/>
            <a:ext cx="130759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159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整理・印刷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646920" y="2697480"/>
            <a:ext cx="1097280" cy="292608"/>
          </a:xfrm>
          <a:prstGeom prst="rect">
            <a:avLst/>
          </a:prstGeom>
          <a:solidFill>
            <a:srgbClr val="EBF7F0"/>
          </a:solidFill>
          <a:ln w="8890">
            <a:solidFill>
              <a:srgbClr val="EBF7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01784" y="2743200"/>
            <a:ext cx="98755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ミス防止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5800" y="5102352"/>
            <a:ext cx="34747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248656"/>
            <a:ext cx="30632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対象：Excelを使い始めた人／表をきれいに作りたい人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ゴール：人に渡しても崩れにくいExcel資料を作る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11128248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この講習のゴール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881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Excelを「入力するだけ」から「整った表として使える」状態にします。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1064240" cy="0"/>
          </a:xfrm>
          <a:prstGeom prst="line">
            <a:avLst/>
          </a:prstGeom>
          <a:noFill/>
          <a:ln w="1016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10528"/>
            <a:ext cx="4754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 初心者向け｜その他の基本操作</a:t>
            </a:r>
            <a:endParaRPr lang="en-US" sz="480" dirty="0"/>
          </a:p>
        </p:txBody>
      </p:sp>
      <p:sp>
        <p:nvSpPr>
          <p:cNvPr id="6" name="Text 4"/>
          <p:cNvSpPr/>
          <p:nvPr/>
        </p:nvSpPr>
        <p:spPr>
          <a:xfrm>
            <a:off x="11128248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914400" y="1508760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4990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07592" y="1499616"/>
            <a:ext cx="481888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表の形を整える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307592" y="1682496"/>
            <a:ext cx="48188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1行1件・1列1項目で、あとから集計しやすい表にする。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914400" y="2221992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263140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307592" y="2212848"/>
            <a:ext cx="481888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入力ミスを減らす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307592" y="2395728"/>
            <a:ext cx="48188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数値・日付・文字列の違いを意識し、崩れにくく入力する。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914400" y="2935224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976372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307592" y="2926080"/>
            <a:ext cx="481888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データを整理する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307592" y="3108960"/>
            <a:ext cx="48188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フィルター・並べ替え・テーブルで探す時間を減らす。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914400" y="3648456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68960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07592" y="3639312"/>
            <a:ext cx="481888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提出前に確認する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307592" y="3822192"/>
            <a:ext cx="48188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印刷範囲・表示崩れ・合計ズレをチェックできる。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6400800" y="1508760"/>
            <a:ext cx="3246120" cy="1874520"/>
          </a:xfrm>
          <a:prstGeom prst="rect">
            <a:avLst/>
          </a:prstGeom>
          <a:solidFill>
            <a:srgbClr val="DDF3E7"/>
          </a:solidFill>
          <a:ln w="8890">
            <a:solidFill>
              <a:srgbClr val="DDF3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38544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最終イメージ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20840" y="2212848"/>
            <a:ext cx="2651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「なんとなく入力」ではなく、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誰が見ても使いやすい表にする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38160" y="3840480"/>
            <a:ext cx="914400" cy="292608"/>
          </a:xfrm>
          <a:prstGeom prst="rect">
            <a:avLst/>
          </a:prstGeom>
          <a:solidFill>
            <a:srgbClr val="DDF3E7"/>
          </a:solidFill>
          <a:ln w="8890">
            <a:solidFill>
              <a:srgbClr val="DDF3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93024" y="3886200"/>
            <a:ext cx="80467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表設計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086600" y="3840480"/>
            <a:ext cx="731520" cy="292608"/>
          </a:xfrm>
          <a:prstGeom prst="rect">
            <a:avLst/>
          </a:prstGeom>
          <a:solidFill>
            <a:srgbClr val="FFF2C6"/>
          </a:solidFill>
          <a:ln w="8890">
            <a:solidFill>
              <a:srgbClr val="FFF2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41464" y="3886200"/>
            <a:ext cx="62179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651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189720" y="3840480"/>
            <a:ext cx="731520" cy="292608"/>
          </a:xfrm>
          <a:prstGeom prst="rect">
            <a:avLst/>
          </a:prstGeom>
          <a:solidFill>
            <a:srgbClr val="E9EFFF"/>
          </a:solidFill>
          <a:ln w="8890">
            <a:solidFill>
              <a:srgbClr val="E9E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44584" y="3886200"/>
            <a:ext cx="62179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159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整理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18120" y="3977640"/>
            <a:ext cx="274320" cy="0"/>
          </a:xfrm>
          <a:prstGeom prst="line">
            <a:avLst/>
          </a:prstGeom>
          <a:noFill/>
          <a:ln w="15240">
            <a:solidFill>
              <a:srgbClr val="0B6B3A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052560" y="3977640"/>
            <a:ext cx="109728" cy="0"/>
          </a:xfrm>
          <a:prstGeom prst="line">
            <a:avLst/>
          </a:prstGeom>
          <a:noFill/>
          <a:ln w="15240">
            <a:solidFill>
              <a:srgbClr val="0B6B3A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583680" y="4572000"/>
            <a:ext cx="29260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4727448"/>
            <a:ext cx="25603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関数や高度機能の前に、まず「表の土台」を安定させる。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Excelの基本構造を押さえる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881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どこを操作しているかを理解すると、編集ミスが減ります。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1064240" cy="0"/>
          </a:xfrm>
          <a:prstGeom prst="line">
            <a:avLst/>
          </a:prstGeom>
          <a:noFill/>
          <a:ln w="1016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10528"/>
            <a:ext cx="4754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 初心者向け｜その他の基本操作</a:t>
            </a:r>
            <a:endParaRPr lang="en-US" sz="480" dirty="0"/>
          </a:p>
        </p:txBody>
      </p:sp>
      <p:sp>
        <p:nvSpPr>
          <p:cNvPr id="6" name="Text 4"/>
          <p:cNvSpPr/>
          <p:nvPr/>
        </p:nvSpPr>
        <p:spPr>
          <a:xfrm>
            <a:off x="11128248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3383280" cy="3246120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664208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ブック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2011680"/>
            <a:ext cx="1828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Excelファイル全体。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例：売上管理.xlsx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78992" y="2651760"/>
            <a:ext cx="2651760" cy="1234440"/>
          </a:xfrm>
          <a:prstGeom prst="rect">
            <a:avLst/>
          </a:prstGeom>
          <a:solidFill>
            <a:srgbClr val="EFF8F3"/>
          </a:solidFill>
          <a:ln w="8890">
            <a:solidFill>
              <a:srgbClr val="C9D8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3163824"/>
            <a:ext cx="2286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Sheet1　Sheet2　集計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34840" y="3063240"/>
            <a:ext cx="731520" cy="0"/>
          </a:xfrm>
          <a:prstGeom prst="line">
            <a:avLst/>
          </a:prstGeom>
          <a:noFill/>
          <a:ln w="15240">
            <a:solidFill>
              <a:srgbClr val="0B6B3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40680" y="1417320"/>
            <a:ext cx="5166360" cy="3246120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1828800"/>
            <a:ext cx="868680" cy="329184"/>
          </a:xfrm>
          <a:prstGeom prst="rect">
            <a:avLst/>
          </a:prstGeom>
          <a:solidFill>
            <a:srgbClr val="0B6B3A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84164" y="1865376"/>
            <a:ext cx="804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6720840" y="1828800"/>
            <a:ext cx="868680" cy="329184"/>
          </a:xfrm>
          <a:prstGeom prst="rect">
            <a:avLst/>
          </a:prstGeom>
          <a:solidFill>
            <a:srgbClr val="0B6B3A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52844" y="1865376"/>
            <a:ext cx="804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7589520" y="1828800"/>
            <a:ext cx="868680" cy="329184"/>
          </a:xfrm>
          <a:prstGeom prst="rect">
            <a:avLst/>
          </a:prstGeom>
          <a:solidFill>
            <a:srgbClr val="0B6B3A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1524" y="1865376"/>
            <a:ext cx="804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8458200" y="1828800"/>
            <a:ext cx="868680" cy="329184"/>
          </a:xfrm>
          <a:prstGeom prst="rect">
            <a:avLst/>
          </a:prstGeom>
          <a:solidFill>
            <a:srgbClr val="0B6B3A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90204" y="1865376"/>
            <a:ext cx="804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5852160" y="2157984"/>
            <a:ext cx="8686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84164" y="2194560"/>
            <a:ext cx="804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6720840" y="2157984"/>
            <a:ext cx="8686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52844" y="2194560"/>
            <a:ext cx="804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単価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7589520" y="2157984"/>
            <a:ext cx="8686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1524" y="2194560"/>
            <a:ext cx="804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数量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8458200" y="2157984"/>
            <a:ext cx="8686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90204" y="2194560"/>
            <a:ext cx="804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金額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5852160" y="2487168"/>
            <a:ext cx="868680" cy="329184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84164" y="2523744"/>
            <a:ext cx="804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ペン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6720840" y="2487168"/>
            <a:ext cx="868680" cy="329184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52844" y="2523744"/>
            <a:ext cx="804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7589520" y="2487168"/>
            <a:ext cx="868680" cy="329184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21524" y="2523744"/>
            <a:ext cx="804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8458200" y="2487168"/>
            <a:ext cx="868680" cy="329184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90204" y="2523744"/>
            <a:ext cx="804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5852160" y="2816352"/>
            <a:ext cx="8686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84164" y="2852928"/>
            <a:ext cx="804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ノート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6720840" y="2816352"/>
            <a:ext cx="8686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52844" y="2852928"/>
            <a:ext cx="804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</a:t>
            </a:r>
            <a:endParaRPr lang="en-US" sz="620" dirty="0"/>
          </a:p>
        </p:txBody>
      </p:sp>
      <p:sp>
        <p:nvSpPr>
          <p:cNvPr id="42" name="Shape 40"/>
          <p:cNvSpPr/>
          <p:nvPr/>
        </p:nvSpPr>
        <p:spPr>
          <a:xfrm>
            <a:off x="7589520" y="2816352"/>
            <a:ext cx="8686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21524" y="2852928"/>
            <a:ext cx="804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8458200" y="2816352"/>
            <a:ext cx="8686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90204" y="2852928"/>
            <a:ext cx="804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400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7315200" y="3657600"/>
            <a:ext cx="1234440" cy="292608"/>
          </a:xfrm>
          <a:prstGeom prst="rect">
            <a:avLst/>
          </a:prstGeom>
          <a:solidFill>
            <a:srgbClr val="FFF2C6"/>
          </a:solidFill>
          <a:ln w="8890">
            <a:solidFill>
              <a:srgbClr val="FFF2C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70064" y="3703320"/>
            <a:ext cx="112471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651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セル：1つのマス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897880" y="4041648"/>
            <a:ext cx="868680" cy="292608"/>
          </a:xfrm>
          <a:prstGeom prst="rect">
            <a:avLst/>
          </a:prstGeom>
          <a:solidFill>
            <a:srgbClr val="DDF3E7"/>
          </a:solidFill>
          <a:ln w="8890">
            <a:solidFill>
              <a:srgbClr val="DDF3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52744" y="4087368"/>
            <a:ext cx="75895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行：横方向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315200" y="4041648"/>
            <a:ext cx="868680" cy="292608"/>
          </a:xfrm>
          <a:prstGeom prst="rect">
            <a:avLst/>
          </a:prstGeom>
          <a:solidFill>
            <a:srgbClr val="E9EFFF"/>
          </a:solidFill>
          <a:ln w="8890">
            <a:solidFill>
              <a:srgbClr val="E9E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70064" y="4087368"/>
            <a:ext cx="75895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159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列：縦方向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738360" y="1920240"/>
            <a:ext cx="640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範囲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738360" y="2240280"/>
            <a:ext cx="868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複数セルのまとまり。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例：A1:D4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005840" y="5257800"/>
            <a:ext cx="9692640" cy="438912"/>
          </a:xfrm>
          <a:prstGeom prst="rect">
            <a:avLst/>
          </a:prstGeom>
          <a:solidFill>
            <a:srgbClr val="FFF2C6"/>
          </a:solidFill>
          <a:ln w="8890">
            <a:solidFill>
              <a:srgbClr val="EAD18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07008" y="5422392"/>
            <a:ext cx="92354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まず「ブック → シート → セル → 範囲」の順で考えると、操作対象を間違えにくくなります。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良い表は「1行1件・1列1項目」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881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見た目よりも、あとから整理・集計できる形を優先します。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1064240" cy="0"/>
          </a:xfrm>
          <a:prstGeom prst="line">
            <a:avLst/>
          </a:prstGeom>
          <a:noFill/>
          <a:ln w="1016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10528"/>
            <a:ext cx="4754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 初心者向け｜その他の基本操作</a:t>
            </a:r>
            <a:endParaRPr lang="en-US" sz="480" dirty="0"/>
          </a:p>
        </p:txBody>
      </p:sp>
      <p:sp>
        <p:nvSpPr>
          <p:cNvPr id="6" name="Text 4"/>
          <p:cNvSpPr/>
          <p:nvPr/>
        </p:nvSpPr>
        <p:spPr>
          <a:xfrm>
            <a:off x="11128248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64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悪い例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737360"/>
            <a:ext cx="1051560" cy="402336"/>
          </a:xfrm>
          <a:prstGeom prst="rect">
            <a:avLst/>
          </a:prstGeom>
          <a:solidFill>
            <a:srgbClr val="D64B4B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6404" y="1773936"/>
            <a:ext cx="98755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1965960" y="1737360"/>
            <a:ext cx="1051560" cy="402336"/>
          </a:xfrm>
          <a:prstGeom prst="rect">
            <a:avLst/>
          </a:prstGeom>
          <a:solidFill>
            <a:srgbClr val="D64B4B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7964" y="1773936"/>
            <a:ext cx="98755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</a:t>
            </a:r>
            <a:endParaRPr lang="en-US" sz="580" dirty="0"/>
          </a:p>
        </p:txBody>
      </p:sp>
      <p:sp>
        <p:nvSpPr>
          <p:cNvPr id="12" name="Shape 10"/>
          <p:cNvSpPr/>
          <p:nvPr/>
        </p:nvSpPr>
        <p:spPr>
          <a:xfrm>
            <a:off x="3017520" y="1737360"/>
            <a:ext cx="1051560" cy="402336"/>
          </a:xfrm>
          <a:prstGeom prst="rect">
            <a:avLst/>
          </a:prstGeom>
          <a:solidFill>
            <a:srgbClr val="D64B4B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9524" y="1773936"/>
            <a:ext cx="98755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備考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914400" y="2139696"/>
            <a:ext cx="10515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" y="2176272"/>
            <a:ext cx="98755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4/1</a:t>
            </a:r>
            <a:endParaRPr lang="en-US" sz="580" dirty="0"/>
          </a:p>
        </p:txBody>
      </p:sp>
      <p:sp>
        <p:nvSpPr>
          <p:cNvPr id="16" name="Shape 14"/>
          <p:cNvSpPr/>
          <p:nvPr/>
        </p:nvSpPr>
        <p:spPr>
          <a:xfrm>
            <a:off x="1965960" y="2139696"/>
            <a:ext cx="10515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97964" y="2176272"/>
            <a:ext cx="98755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東京支店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大阪支店</a:t>
            </a:r>
            <a:endParaRPr lang="en-US" sz="580" dirty="0"/>
          </a:p>
        </p:txBody>
      </p:sp>
      <p:sp>
        <p:nvSpPr>
          <p:cNvPr id="18" name="Shape 16"/>
          <p:cNvSpPr/>
          <p:nvPr/>
        </p:nvSpPr>
        <p:spPr>
          <a:xfrm>
            <a:off x="3017520" y="2139696"/>
            <a:ext cx="10515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49524" y="2176272"/>
            <a:ext cx="98755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まとめて入力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914400" y="2542032"/>
            <a:ext cx="1051560" cy="402336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" y="2578608"/>
            <a:ext cx="98755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4/2</a:t>
            </a:r>
            <a:endParaRPr lang="en-US" sz="580" dirty="0"/>
          </a:p>
        </p:txBody>
      </p:sp>
      <p:sp>
        <p:nvSpPr>
          <p:cNvPr id="22" name="Shape 20"/>
          <p:cNvSpPr/>
          <p:nvPr/>
        </p:nvSpPr>
        <p:spPr>
          <a:xfrm>
            <a:off x="1965960" y="2542032"/>
            <a:ext cx="1051560" cy="402336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97964" y="2578608"/>
            <a:ext cx="98755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580" dirty="0"/>
          </a:p>
        </p:txBody>
      </p:sp>
      <p:sp>
        <p:nvSpPr>
          <p:cNvPr id="24" name="Shape 22"/>
          <p:cNvSpPr/>
          <p:nvPr/>
        </p:nvSpPr>
        <p:spPr>
          <a:xfrm>
            <a:off x="3017520" y="2542032"/>
            <a:ext cx="1051560" cy="402336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49524" y="2578608"/>
            <a:ext cx="98755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空白行あり</a:t>
            </a:r>
            <a:endParaRPr lang="en-US" sz="580" dirty="0"/>
          </a:p>
        </p:txBody>
      </p:sp>
      <p:sp>
        <p:nvSpPr>
          <p:cNvPr id="26" name="Shape 24"/>
          <p:cNvSpPr/>
          <p:nvPr/>
        </p:nvSpPr>
        <p:spPr>
          <a:xfrm>
            <a:off x="914400" y="2944368"/>
            <a:ext cx="10515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6404" y="2980944"/>
            <a:ext cx="98755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合計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1965960" y="2944368"/>
            <a:ext cx="10515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97964" y="2980944"/>
            <a:ext cx="98755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5000</a:t>
            </a:r>
            <a:endParaRPr lang="en-US" sz="580" dirty="0"/>
          </a:p>
        </p:txBody>
      </p:sp>
      <p:sp>
        <p:nvSpPr>
          <p:cNvPr id="30" name="Shape 28"/>
          <p:cNvSpPr/>
          <p:nvPr/>
        </p:nvSpPr>
        <p:spPr>
          <a:xfrm>
            <a:off x="3017520" y="2944368"/>
            <a:ext cx="10515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49524" y="2980944"/>
            <a:ext cx="98755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580" dirty="0"/>
          </a:p>
        </p:txBody>
      </p:sp>
      <p:sp>
        <p:nvSpPr>
          <p:cNvPr id="32" name="Text 30"/>
          <p:cNvSpPr/>
          <p:nvPr/>
        </p:nvSpPr>
        <p:spPr>
          <a:xfrm>
            <a:off x="1005840" y="3657600"/>
            <a:ext cx="2377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・1つのセルに複数情報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・空白行や合計行が混ざる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・後で並べ替えにくい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3840480" y="2971800"/>
            <a:ext cx="868680" cy="0"/>
          </a:xfrm>
          <a:prstGeom prst="line">
            <a:avLst/>
          </a:prstGeom>
          <a:noFill/>
          <a:ln w="15240">
            <a:solidFill>
              <a:srgbClr val="0B6B3A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5074920" y="1417320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良い例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74920" y="1737360"/>
            <a:ext cx="960120" cy="402336"/>
          </a:xfrm>
          <a:prstGeom prst="rect">
            <a:avLst/>
          </a:prstGeom>
          <a:solidFill>
            <a:srgbClr val="0B6B3A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06924" y="1773936"/>
            <a:ext cx="8961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</a:t>
            </a:r>
            <a:endParaRPr lang="en-US" sz="580" dirty="0"/>
          </a:p>
        </p:txBody>
      </p:sp>
      <p:sp>
        <p:nvSpPr>
          <p:cNvPr id="37" name="Shape 35"/>
          <p:cNvSpPr/>
          <p:nvPr/>
        </p:nvSpPr>
        <p:spPr>
          <a:xfrm>
            <a:off x="6035040" y="1737360"/>
            <a:ext cx="960120" cy="402336"/>
          </a:xfrm>
          <a:prstGeom prst="rect">
            <a:avLst/>
          </a:prstGeom>
          <a:solidFill>
            <a:srgbClr val="0B6B3A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67044" y="1773936"/>
            <a:ext cx="8961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支店</a:t>
            </a:r>
            <a:endParaRPr lang="en-US" sz="580" dirty="0"/>
          </a:p>
        </p:txBody>
      </p:sp>
      <p:sp>
        <p:nvSpPr>
          <p:cNvPr id="39" name="Shape 37"/>
          <p:cNvSpPr/>
          <p:nvPr/>
        </p:nvSpPr>
        <p:spPr>
          <a:xfrm>
            <a:off x="6995160" y="1737360"/>
            <a:ext cx="960120" cy="402336"/>
          </a:xfrm>
          <a:prstGeom prst="rect">
            <a:avLst/>
          </a:prstGeom>
          <a:solidFill>
            <a:srgbClr val="0B6B3A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27164" y="1773936"/>
            <a:ext cx="8961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</a:t>
            </a:r>
            <a:endParaRPr lang="en-US" sz="580" dirty="0"/>
          </a:p>
        </p:txBody>
      </p:sp>
      <p:sp>
        <p:nvSpPr>
          <p:cNvPr id="41" name="Shape 39"/>
          <p:cNvSpPr/>
          <p:nvPr/>
        </p:nvSpPr>
        <p:spPr>
          <a:xfrm>
            <a:off x="7955280" y="1737360"/>
            <a:ext cx="960120" cy="402336"/>
          </a:xfrm>
          <a:prstGeom prst="rect">
            <a:avLst/>
          </a:prstGeom>
          <a:solidFill>
            <a:srgbClr val="0B6B3A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87284" y="1773936"/>
            <a:ext cx="8961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金額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5074920" y="2139696"/>
            <a:ext cx="96012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06924" y="2176272"/>
            <a:ext cx="8961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4/1</a:t>
            </a:r>
            <a:endParaRPr lang="en-US" sz="580" dirty="0"/>
          </a:p>
        </p:txBody>
      </p:sp>
      <p:sp>
        <p:nvSpPr>
          <p:cNvPr id="45" name="Shape 43"/>
          <p:cNvSpPr/>
          <p:nvPr/>
        </p:nvSpPr>
        <p:spPr>
          <a:xfrm>
            <a:off x="6035040" y="2139696"/>
            <a:ext cx="96012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67044" y="2176272"/>
            <a:ext cx="8961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</a:t>
            </a:r>
            <a:endParaRPr lang="en-US" sz="580" dirty="0"/>
          </a:p>
        </p:txBody>
      </p:sp>
      <p:sp>
        <p:nvSpPr>
          <p:cNvPr id="47" name="Shape 45"/>
          <p:cNvSpPr/>
          <p:nvPr/>
        </p:nvSpPr>
        <p:spPr>
          <a:xfrm>
            <a:off x="6995160" y="2139696"/>
            <a:ext cx="96012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27164" y="2176272"/>
            <a:ext cx="8961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ペン</a:t>
            </a:r>
            <a:endParaRPr lang="en-US" sz="580" dirty="0"/>
          </a:p>
        </p:txBody>
      </p:sp>
      <p:sp>
        <p:nvSpPr>
          <p:cNvPr id="49" name="Shape 47"/>
          <p:cNvSpPr/>
          <p:nvPr/>
        </p:nvSpPr>
        <p:spPr>
          <a:xfrm>
            <a:off x="7955280" y="2139696"/>
            <a:ext cx="96012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87284" y="2176272"/>
            <a:ext cx="8961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2000</a:t>
            </a:r>
            <a:endParaRPr lang="en-US" sz="580" dirty="0"/>
          </a:p>
        </p:txBody>
      </p:sp>
      <p:sp>
        <p:nvSpPr>
          <p:cNvPr id="51" name="Shape 49"/>
          <p:cNvSpPr/>
          <p:nvPr/>
        </p:nvSpPr>
        <p:spPr>
          <a:xfrm>
            <a:off x="5074920" y="2542032"/>
            <a:ext cx="960120" cy="402336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06924" y="2578608"/>
            <a:ext cx="8961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4/1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035040" y="2542032"/>
            <a:ext cx="960120" cy="402336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67044" y="2578608"/>
            <a:ext cx="8961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大阪</a:t>
            </a:r>
            <a:endParaRPr lang="en-US" sz="580" dirty="0"/>
          </a:p>
        </p:txBody>
      </p:sp>
      <p:sp>
        <p:nvSpPr>
          <p:cNvPr id="55" name="Shape 53"/>
          <p:cNvSpPr/>
          <p:nvPr/>
        </p:nvSpPr>
        <p:spPr>
          <a:xfrm>
            <a:off x="6995160" y="2542032"/>
            <a:ext cx="960120" cy="402336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27164" y="2578608"/>
            <a:ext cx="8961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ノート</a:t>
            </a:r>
            <a:endParaRPr lang="en-US" sz="580" dirty="0"/>
          </a:p>
        </p:txBody>
      </p:sp>
      <p:sp>
        <p:nvSpPr>
          <p:cNvPr id="57" name="Shape 55"/>
          <p:cNvSpPr/>
          <p:nvPr/>
        </p:nvSpPr>
        <p:spPr>
          <a:xfrm>
            <a:off x="7955280" y="2542032"/>
            <a:ext cx="960120" cy="402336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87284" y="2578608"/>
            <a:ext cx="8961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3000</a:t>
            </a:r>
            <a:endParaRPr lang="en-US" sz="580" dirty="0"/>
          </a:p>
        </p:txBody>
      </p:sp>
      <p:sp>
        <p:nvSpPr>
          <p:cNvPr id="59" name="Shape 57"/>
          <p:cNvSpPr/>
          <p:nvPr/>
        </p:nvSpPr>
        <p:spPr>
          <a:xfrm>
            <a:off x="5074920" y="2944368"/>
            <a:ext cx="96012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06924" y="2980944"/>
            <a:ext cx="8961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4/2</a:t>
            </a:r>
            <a:endParaRPr lang="en-US" sz="580" dirty="0"/>
          </a:p>
        </p:txBody>
      </p:sp>
      <p:sp>
        <p:nvSpPr>
          <p:cNvPr id="61" name="Shape 59"/>
          <p:cNvSpPr/>
          <p:nvPr/>
        </p:nvSpPr>
        <p:spPr>
          <a:xfrm>
            <a:off x="6035040" y="2944368"/>
            <a:ext cx="96012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67044" y="2980944"/>
            <a:ext cx="8961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995160" y="2944368"/>
            <a:ext cx="96012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27164" y="2980944"/>
            <a:ext cx="8961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</a:t>
            </a:r>
            <a:endParaRPr lang="en-US" sz="580" dirty="0"/>
          </a:p>
        </p:txBody>
      </p:sp>
      <p:sp>
        <p:nvSpPr>
          <p:cNvPr id="65" name="Shape 63"/>
          <p:cNvSpPr/>
          <p:nvPr/>
        </p:nvSpPr>
        <p:spPr>
          <a:xfrm>
            <a:off x="7955280" y="2944368"/>
            <a:ext cx="96012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87284" y="2980944"/>
            <a:ext cx="8961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1000</a:t>
            </a:r>
            <a:endParaRPr lang="en-US" sz="580" dirty="0"/>
          </a:p>
        </p:txBody>
      </p:sp>
      <p:sp>
        <p:nvSpPr>
          <p:cNvPr id="67" name="Shape 65"/>
          <p:cNvSpPr/>
          <p:nvPr/>
        </p:nvSpPr>
        <p:spPr>
          <a:xfrm>
            <a:off x="5166360" y="3657600"/>
            <a:ext cx="3840480" cy="804672"/>
          </a:xfrm>
          <a:prstGeom prst="rect">
            <a:avLst/>
          </a:prstGeom>
          <a:solidFill>
            <a:srgbClr val="DDF3E7"/>
          </a:solidFill>
          <a:ln w="8890">
            <a:solidFill>
              <a:srgbClr val="DDF3E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58384" y="3822192"/>
            <a:ext cx="4572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原則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833872" y="3785616"/>
            <a:ext cx="2834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1行＝1件、1列＝1項目。</a:t>
            </a:r>
            <a:endParaRPr lang="en-US" sz="820" dirty="0"/>
          </a:p>
          <a:p>
            <a:pPr algn="l" indent="0" marL="0">
              <a:buNone/>
            </a:pPr>
            <a:r>
              <a:rPr lang="en-US" sz="82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見出しは1行にまとめ、結合セルはなるべく使わない。</a:t>
            </a:r>
            <a:endParaRPr lang="en-US" sz="820" dirty="0"/>
          </a:p>
        </p:txBody>
      </p:sp>
      <p:sp>
        <p:nvSpPr>
          <p:cNvPr id="70" name="Shape 68"/>
          <p:cNvSpPr/>
          <p:nvPr/>
        </p:nvSpPr>
        <p:spPr>
          <a:xfrm>
            <a:off x="914400" y="5074920"/>
            <a:ext cx="97840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15568" y="5294376"/>
            <a:ext cx="9326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表を作る前に「この表は後でフィルター・並べ替え・集計をするか？」と確認します。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入力するときに気をつけること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881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Excelは見た目だけでなく「データの種類」も見ています。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1064240" cy="0"/>
          </a:xfrm>
          <a:prstGeom prst="line">
            <a:avLst/>
          </a:prstGeom>
          <a:noFill/>
          <a:ln w="1016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10528"/>
            <a:ext cx="4754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 初心者向け｜その他の基本操作</a:t>
            </a:r>
            <a:endParaRPr lang="en-US" sz="480" dirty="0"/>
          </a:p>
        </p:txBody>
      </p:sp>
      <p:sp>
        <p:nvSpPr>
          <p:cNvPr id="6" name="Text 4"/>
          <p:cNvSpPr/>
          <p:nvPr/>
        </p:nvSpPr>
        <p:spPr>
          <a:xfrm>
            <a:off x="11128248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5846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16152" y="1408176"/>
            <a:ext cx="472744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数値は数値として入れる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16152" y="1591056"/>
            <a:ext cx="47274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「1,000円」のように文字で入れず、1000と入力して表示形式で円にする。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822960" y="2148840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18998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216152" y="2139696"/>
            <a:ext cx="472744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日付は日付として入れる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16152" y="2322576"/>
            <a:ext cx="47274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2026/8/18 のようにExcelが日付として認識できる形にする。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822960" y="2880360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92150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16152" y="2871216"/>
            <a:ext cx="472744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ID・電話番号は文字列扱い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16152" y="3054096"/>
            <a:ext cx="47274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先頭の0を残したい番号は、表示形式または文字列として扱う。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822960" y="3611880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65302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216152" y="3602736"/>
            <a:ext cx="472744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入力ルールをそろえる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216152" y="3785616"/>
            <a:ext cx="47274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表記ゆれを減らす。例：大阪／大阪府／Osakaを混ぜない。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6565392" y="157276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見た目と中身の違い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2057400"/>
            <a:ext cx="1005840" cy="310896"/>
          </a:xfrm>
          <a:prstGeom prst="rect">
            <a:avLst/>
          </a:prstGeom>
          <a:solidFill>
            <a:srgbClr val="0B6B3A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15684" y="2093976"/>
            <a:ext cx="9418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580" dirty="0"/>
          </a:p>
        </p:txBody>
      </p:sp>
      <p:sp>
        <p:nvSpPr>
          <p:cNvPr id="26" name="Shape 24"/>
          <p:cNvSpPr/>
          <p:nvPr/>
        </p:nvSpPr>
        <p:spPr>
          <a:xfrm>
            <a:off x="7589520" y="2057400"/>
            <a:ext cx="1005840" cy="310896"/>
          </a:xfrm>
          <a:prstGeom prst="rect">
            <a:avLst/>
          </a:prstGeom>
          <a:solidFill>
            <a:srgbClr val="0B6B3A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1524" y="2093976"/>
            <a:ext cx="9418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8595360" y="2057400"/>
            <a:ext cx="1005840" cy="310896"/>
          </a:xfrm>
          <a:prstGeom prst="rect">
            <a:avLst/>
          </a:prstGeom>
          <a:solidFill>
            <a:srgbClr val="0B6B3A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27364" y="2093976"/>
            <a:ext cx="9418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中身</a:t>
            </a:r>
            <a:endParaRPr lang="en-US" sz="580" dirty="0"/>
          </a:p>
        </p:txBody>
      </p:sp>
      <p:sp>
        <p:nvSpPr>
          <p:cNvPr id="30" name="Shape 28"/>
          <p:cNvSpPr/>
          <p:nvPr/>
        </p:nvSpPr>
        <p:spPr>
          <a:xfrm>
            <a:off x="6583680" y="2368296"/>
            <a:ext cx="100584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5684" y="2404872"/>
            <a:ext cx="9418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1000</a:t>
            </a:r>
            <a:endParaRPr lang="en-US" sz="580" dirty="0"/>
          </a:p>
        </p:txBody>
      </p:sp>
      <p:sp>
        <p:nvSpPr>
          <p:cNvPr id="32" name="Shape 30"/>
          <p:cNvSpPr/>
          <p:nvPr/>
        </p:nvSpPr>
        <p:spPr>
          <a:xfrm>
            <a:off x="7589520" y="2368296"/>
            <a:ext cx="100584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21524" y="2404872"/>
            <a:ext cx="9418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¥1,000</a:t>
            </a:r>
            <a:endParaRPr lang="en-US" sz="580" dirty="0"/>
          </a:p>
        </p:txBody>
      </p:sp>
      <p:sp>
        <p:nvSpPr>
          <p:cNvPr id="34" name="Shape 32"/>
          <p:cNvSpPr/>
          <p:nvPr/>
        </p:nvSpPr>
        <p:spPr>
          <a:xfrm>
            <a:off x="8595360" y="2368296"/>
            <a:ext cx="100584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27364" y="2404872"/>
            <a:ext cx="9418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</a:t>
            </a:r>
            <a:endParaRPr lang="en-US" sz="580" dirty="0"/>
          </a:p>
        </p:txBody>
      </p:sp>
      <p:sp>
        <p:nvSpPr>
          <p:cNvPr id="36" name="Shape 34"/>
          <p:cNvSpPr/>
          <p:nvPr/>
        </p:nvSpPr>
        <p:spPr>
          <a:xfrm>
            <a:off x="6583680" y="2679192"/>
            <a:ext cx="1005840" cy="310896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15684" y="2715768"/>
            <a:ext cx="9418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2026/8/18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7589520" y="2679192"/>
            <a:ext cx="1005840" cy="310896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21524" y="2715768"/>
            <a:ext cx="9418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8月18日</a:t>
            </a:r>
            <a:endParaRPr lang="en-US" sz="580" dirty="0"/>
          </a:p>
        </p:txBody>
      </p:sp>
      <p:sp>
        <p:nvSpPr>
          <p:cNvPr id="40" name="Shape 38"/>
          <p:cNvSpPr/>
          <p:nvPr/>
        </p:nvSpPr>
        <p:spPr>
          <a:xfrm>
            <a:off x="8595360" y="2679192"/>
            <a:ext cx="1005840" cy="310896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27364" y="2715768"/>
            <a:ext cx="9418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</a:t>
            </a:r>
            <a:endParaRPr lang="en-US" sz="580" dirty="0"/>
          </a:p>
        </p:txBody>
      </p:sp>
      <p:sp>
        <p:nvSpPr>
          <p:cNvPr id="42" name="Shape 40"/>
          <p:cNvSpPr/>
          <p:nvPr/>
        </p:nvSpPr>
        <p:spPr>
          <a:xfrm>
            <a:off x="6583680" y="2990088"/>
            <a:ext cx="100584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15684" y="3026664"/>
            <a:ext cx="9418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00123</a:t>
            </a:r>
            <a:endParaRPr lang="en-US" sz="580" dirty="0"/>
          </a:p>
        </p:txBody>
      </p:sp>
      <p:sp>
        <p:nvSpPr>
          <p:cNvPr id="44" name="Shape 42"/>
          <p:cNvSpPr/>
          <p:nvPr/>
        </p:nvSpPr>
        <p:spPr>
          <a:xfrm>
            <a:off x="7589520" y="2990088"/>
            <a:ext cx="100584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1524" y="3026664"/>
            <a:ext cx="9418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00123</a:t>
            </a:r>
            <a:endParaRPr lang="en-US" sz="580" dirty="0"/>
          </a:p>
        </p:txBody>
      </p:sp>
      <p:sp>
        <p:nvSpPr>
          <p:cNvPr id="46" name="Shape 44"/>
          <p:cNvSpPr/>
          <p:nvPr/>
        </p:nvSpPr>
        <p:spPr>
          <a:xfrm>
            <a:off x="8595360" y="2990088"/>
            <a:ext cx="100584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27364" y="3026664"/>
            <a:ext cx="9418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309360" y="3703320"/>
            <a:ext cx="4343400" cy="841248"/>
          </a:xfrm>
          <a:prstGeom prst="rect">
            <a:avLst/>
          </a:prstGeom>
          <a:solidFill>
            <a:srgbClr val="FFF2C6"/>
          </a:solidFill>
          <a:ln w="8890">
            <a:solidFill>
              <a:srgbClr val="EAD18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3904488"/>
            <a:ext cx="4572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51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059168" y="3813048"/>
            <a:ext cx="32004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Excelで困る原因の多くは、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「数字に見える文字」「日付に見える文字」です。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「値」と「書式」は別物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881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表示を変えても、セルの中身が変わるとは限りません。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1064240" cy="0"/>
          </a:xfrm>
          <a:prstGeom prst="line">
            <a:avLst/>
          </a:prstGeom>
          <a:noFill/>
          <a:ln w="1016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10528"/>
            <a:ext cx="4754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 初心者向け｜その他の基本操作</a:t>
            </a:r>
            <a:endParaRPr lang="en-US" sz="480" dirty="0"/>
          </a:p>
        </p:txBody>
      </p:sp>
      <p:sp>
        <p:nvSpPr>
          <p:cNvPr id="6" name="Text 4"/>
          <p:cNvSpPr/>
          <p:nvPr/>
        </p:nvSpPr>
        <p:spPr>
          <a:xfrm>
            <a:off x="11128248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1005840" y="1600200"/>
            <a:ext cx="685800" cy="292608"/>
          </a:xfrm>
          <a:prstGeom prst="rect">
            <a:avLst/>
          </a:prstGeom>
          <a:solidFill>
            <a:srgbClr val="DDF3E7"/>
          </a:solidFill>
          <a:ln w="8890">
            <a:solidFill>
              <a:srgbClr val="DDF3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645920"/>
            <a:ext cx="57607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05840" y="2057400"/>
            <a:ext cx="219456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267712"/>
            <a:ext cx="1737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セルの中身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例：1000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2404872"/>
            <a:ext cx="822960" cy="0"/>
          </a:xfrm>
          <a:prstGeom prst="line">
            <a:avLst/>
          </a:prstGeom>
          <a:noFill/>
          <a:ln w="15240">
            <a:solidFill>
              <a:srgbClr val="0B6B3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1600200"/>
            <a:ext cx="822960" cy="292608"/>
          </a:xfrm>
          <a:prstGeom prst="rect">
            <a:avLst/>
          </a:prstGeom>
          <a:solidFill>
            <a:srgbClr val="FFF2C6"/>
          </a:solidFill>
          <a:ln w="8890">
            <a:solidFill>
              <a:srgbClr val="FFF2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645920"/>
            <a:ext cx="71323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651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書式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0" y="2057400"/>
            <a:ext cx="23774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2267712"/>
            <a:ext cx="1920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見え方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例：¥1,000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2404872"/>
            <a:ext cx="777240" cy="0"/>
          </a:xfrm>
          <a:prstGeom prst="line">
            <a:avLst/>
          </a:prstGeom>
          <a:noFill/>
          <a:ln w="15240">
            <a:solidFill>
              <a:srgbClr val="0B6B3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75320" y="1600200"/>
            <a:ext cx="822960" cy="292608"/>
          </a:xfrm>
          <a:prstGeom prst="rect">
            <a:avLst/>
          </a:prstGeom>
          <a:solidFill>
            <a:srgbClr val="E9EFFF"/>
          </a:solidFill>
          <a:ln w="8890">
            <a:solidFill>
              <a:srgbClr val="E9E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0184" y="1645920"/>
            <a:ext cx="71323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159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275320" y="2057400"/>
            <a:ext cx="219456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Excelは値を使う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表示だけではない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05840" y="3767328"/>
            <a:ext cx="4434840" cy="868680"/>
          </a:xfrm>
          <a:prstGeom prst="rect">
            <a:avLst/>
          </a:prstGeom>
          <a:solidFill>
            <a:srgbClr val="EFF8F3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3950208"/>
            <a:ext cx="1371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よく使う書式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234440" y="4233672"/>
            <a:ext cx="37947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通貨／日付／パーセント／桁区切り／小数点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852160" y="3767328"/>
            <a:ext cx="4434840" cy="868680"/>
          </a:xfrm>
          <a:prstGeom prst="rect">
            <a:avLst/>
          </a:prstGeom>
          <a:solidFill>
            <a:srgbClr val="FDE8E8"/>
          </a:solidFill>
          <a:ln w="8890">
            <a:solidFill>
              <a:srgbClr val="F2B5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3950208"/>
            <a:ext cx="1371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4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避けたい状態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6080760" y="4233672"/>
            <a:ext cx="3703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数字の前後に空白／単位を直接入力／セル結合の多用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05840" y="5303520"/>
            <a:ext cx="932688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07008" y="5449824"/>
            <a:ext cx="89154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「見た目を変えたい」ときは、入力内容を変えずに表示形式を使うのが基本です。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数式の基本：まずは「=」から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881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数式はセル同士をつなげて、計算を自動化するための仕組みです。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1064240" cy="0"/>
          </a:xfrm>
          <a:prstGeom prst="line">
            <a:avLst/>
          </a:prstGeom>
          <a:noFill/>
          <a:ln w="1016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10528"/>
            <a:ext cx="4754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 初心者向け｜その他の基本操作</a:t>
            </a:r>
            <a:endParaRPr lang="en-US" sz="480" dirty="0"/>
          </a:p>
        </p:txBody>
      </p:sp>
      <p:sp>
        <p:nvSpPr>
          <p:cNvPr id="6" name="Text 4"/>
          <p:cNvSpPr/>
          <p:nvPr/>
        </p:nvSpPr>
        <p:spPr>
          <a:xfrm>
            <a:off x="11128248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28346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719072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=B2*C2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2048256"/>
            <a:ext cx="19202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単価 × 数量 = 金額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0" y="1417320"/>
            <a:ext cx="914400" cy="365760"/>
          </a:xfrm>
          <a:prstGeom prst="rect">
            <a:avLst/>
          </a:prstGeom>
          <a:solidFill>
            <a:srgbClr val="0B6B3A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4004" y="1453896"/>
            <a:ext cx="8503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</a:t>
            </a:r>
            <a:endParaRPr lang="en-US" sz="620" dirty="0"/>
          </a:p>
        </p:txBody>
      </p:sp>
      <p:sp>
        <p:nvSpPr>
          <p:cNvPr id="12" name="Shape 10"/>
          <p:cNvSpPr/>
          <p:nvPr/>
        </p:nvSpPr>
        <p:spPr>
          <a:xfrm>
            <a:off x="5486400" y="1417320"/>
            <a:ext cx="914400" cy="365760"/>
          </a:xfrm>
          <a:prstGeom prst="rect">
            <a:avLst/>
          </a:prstGeom>
          <a:solidFill>
            <a:srgbClr val="0B6B3A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18404" y="1453896"/>
            <a:ext cx="8503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単価</a:t>
            </a:r>
            <a:endParaRPr lang="en-US" sz="620" dirty="0"/>
          </a:p>
        </p:txBody>
      </p:sp>
      <p:sp>
        <p:nvSpPr>
          <p:cNvPr id="14" name="Shape 12"/>
          <p:cNvSpPr/>
          <p:nvPr/>
        </p:nvSpPr>
        <p:spPr>
          <a:xfrm>
            <a:off x="6400800" y="1417320"/>
            <a:ext cx="914400" cy="365760"/>
          </a:xfrm>
          <a:prstGeom prst="rect">
            <a:avLst/>
          </a:prstGeom>
          <a:solidFill>
            <a:srgbClr val="0B6B3A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2804" y="1453896"/>
            <a:ext cx="8503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数量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7315200" y="1417320"/>
            <a:ext cx="914400" cy="365760"/>
          </a:xfrm>
          <a:prstGeom prst="rect">
            <a:avLst/>
          </a:prstGeom>
          <a:solidFill>
            <a:srgbClr val="0B6B3A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47204" y="1453896"/>
            <a:ext cx="8503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金額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4572000" y="1783080"/>
            <a:ext cx="9144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4004" y="1819656"/>
            <a:ext cx="8503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ペン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5486400" y="1783080"/>
            <a:ext cx="9144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8404" y="1819656"/>
            <a:ext cx="8503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6400800" y="1783080"/>
            <a:ext cx="9144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2804" y="1819656"/>
            <a:ext cx="8503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7315200" y="1783080"/>
            <a:ext cx="9144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47204" y="1819656"/>
            <a:ext cx="8503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=B2*C2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4572000" y="2148840"/>
            <a:ext cx="914400" cy="365760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04004" y="2185416"/>
            <a:ext cx="8503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ノート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5486400" y="2148840"/>
            <a:ext cx="914400" cy="365760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8404" y="2185416"/>
            <a:ext cx="8503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6400800" y="2148840"/>
            <a:ext cx="914400" cy="365760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32804" y="2185416"/>
            <a:ext cx="8503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7315200" y="2148840"/>
            <a:ext cx="914400" cy="365760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7204" y="2185416"/>
            <a:ext cx="8503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=B3*C3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3886200" y="1874520"/>
            <a:ext cx="548640" cy="0"/>
          </a:xfrm>
          <a:prstGeom prst="line">
            <a:avLst/>
          </a:prstGeom>
          <a:noFill/>
          <a:ln w="15240">
            <a:solidFill>
              <a:srgbClr val="0B6B3A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14400" y="3246120"/>
            <a:ext cx="2560320" cy="1051560"/>
          </a:xfrm>
          <a:prstGeom prst="rect">
            <a:avLst/>
          </a:prstGeom>
          <a:solidFill>
            <a:srgbClr val="DDF3E7"/>
          </a:solidFill>
          <a:ln w="8890">
            <a:solidFill>
              <a:srgbClr val="DDF3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88720" y="3493008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相対参照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43000" y="3886200"/>
            <a:ext cx="21031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コピー先に合わせて参照先が動く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023360" y="3246120"/>
            <a:ext cx="2560320" cy="1051560"/>
          </a:xfrm>
          <a:prstGeom prst="rect">
            <a:avLst/>
          </a:prstGeom>
          <a:solidFill>
            <a:srgbClr val="FFF2C6"/>
          </a:solidFill>
          <a:ln w="8890">
            <a:solidFill>
              <a:srgbClr val="EAD18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3493008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51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絶対参照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251960" y="3886200"/>
            <a:ext cx="21031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$A$1 のように固定する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132320" y="3246120"/>
            <a:ext cx="2560320" cy="1051560"/>
          </a:xfrm>
          <a:prstGeom prst="rect">
            <a:avLst/>
          </a:prstGeom>
          <a:solidFill>
            <a:srgbClr val="E9EFFF"/>
          </a:solidFill>
          <a:ln w="8890">
            <a:solidFill>
              <a:srgbClr val="C9D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06640" y="3493008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59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再計算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60920" y="3886200"/>
            <a:ext cx="21031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元データが変わると結果も変わる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914400" y="5074920"/>
            <a:ext cx="87782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5257800"/>
            <a:ext cx="83210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まずは「直接計算」より「セル参照で計算」。あとから数字を直しても結果が追従します。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最初に覚える関数は少なくてよい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881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関数は便利ですが、最初は「何を数えたいか・合計したいか」に絞ります。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1064240" cy="0"/>
          </a:xfrm>
          <a:prstGeom prst="line">
            <a:avLst/>
          </a:prstGeom>
          <a:noFill/>
          <a:ln w="1016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10528"/>
            <a:ext cx="4754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 初心者向け｜その他の基本操作</a:t>
            </a:r>
            <a:endParaRPr lang="en-US" sz="480" dirty="0"/>
          </a:p>
        </p:txBody>
      </p:sp>
      <p:sp>
        <p:nvSpPr>
          <p:cNvPr id="6" name="Text 4"/>
          <p:cNvSpPr/>
          <p:nvPr/>
        </p:nvSpPr>
        <p:spPr>
          <a:xfrm>
            <a:off x="11128248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868680" y="1325880"/>
            <a:ext cx="4434840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1508760"/>
            <a:ext cx="10058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435608"/>
            <a:ext cx="11887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合計する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03120" y="1709928"/>
            <a:ext cx="29260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=SUM(D2:D10)</a:t>
            </a:r>
            <a:endParaRPr lang="en-US" sz="670" dirty="0"/>
          </a:p>
        </p:txBody>
      </p:sp>
      <p:sp>
        <p:nvSpPr>
          <p:cNvPr id="11" name="Shape 9"/>
          <p:cNvSpPr/>
          <p:nvPr/>
        </p:nvSpPr>
        <p:spPr>
          <a:xfrm>
            <a:off x="5852160" y="1325880"/>
            <a:ext cx="4434840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1508760"/>
            <a:ext cx="10058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AVERAGE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86600" y="1435608"/>
            <a:ext cx="11887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平均を出す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86600" y="1709928"/>
            <a:ext cx="29260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=AVERAGE(D2:D10)</a:t>
            </a:r>
            <a:endParaRPr lang="en-US" sz="670" dirty="0"/>
          </a:p>
        </p:txBody>
      </p:sp>
      <p:sp>
        <p:nvSpPr>
          <p:cNvPr id="15" name="Shape 13"/>
          <p:cNvSpPr/>
          <p:nvPr/>
        </p:nvSpPr>
        <p:spPr>
          <a:xfrm>
            <a:off x="868680" y="2286000"/>
            <a:ext cx="4434840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2468880"/>
            <a:ext cx="10058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395728"/>
            <a:ext cx="11887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数値の個数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03120" y="2670048"/>
            <a:ext cx="29260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=COUNT(D2:D10)</a:t>
            </a:r>
            <a:endParaRPr lang="en-US" sz="670" dirty="0"/>
          </a:p>
        </p:txBody>
      </p:sp>
      <p:sp>
        <p:nvSpPr>
          <p:cNvPr id="19" name="Shape 17"/>
          <p:cNvSpPr/>
          <p:nvPr/>
        </p:nvSpPr>
        <p:spPr>
          <a:xfrm>
            <a:off x="5852160" y="2286000"/>
            <a:ext cx="4434840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2468880"/>
            <a:ext cx="10058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COUNTA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86600" y="2395728"/>
            <a:ext cx="11887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空白以外の個数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086600" y="2670048"/>
            <a:ext cx="29260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=COUNTA(A2:A10)</a:t>
            </a:r>
            <a:endParaRPr lang="en-US" sz="670" dirty="0"/>
          </a:p>
        </p:txBody>
      </p:sp>
      <p:sp>
        <p:nvSpPr>
          <p:cNvPr id="23" name="Shape 21"/>
          <p:cNvSpPr/>
          <p:nvPr/>
        </p:nvSpPr>
        <p:spPr>
          <a:xfrm>
            <a:off x="868680" y="3246120"/>
            <a:ext cx="4434840" cy="676656"/>
          </a:xfrm>
          <a:prstGeom prst="rect">
            <a:avLst/>
          </a:prstGeom>
          <a:solidFill>
            <a:srgbClr val="EFF8F3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3429000"/>
            <a:ext cx="10058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3355848"/>
            <a:ext cx="11887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条件で分ける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03120" y="3630168"/>
            <a:ext cx="29260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=IF(D2&gt;=1000,"OK","確認")</a:t>
            </a:r>
            <a:endParaRPr lang="en-US" sz="670" dirty="0"/>
          </a:p>
        </p:txBody>
      </p:sp>
      <p:sp>
        <p:nvSpPr>
          <p:cNvPr id="27" name="Shape 25"/>
          <p:cNvSpPr/>
          <p:nvPr/>
        </p:nvSpPr>
        <p:spPr>
          <a:xfrm>
            <a:off x="5852160" y="3246120"/>
            <a:ext cx="4434840" cy="676656"/>
          </a:xfrm>
          <a:prstGeom prst="rect">
            <a:avLst/>
          </a:prstGeom>
          <a:solidFill>
            <a:srgbClr val="EFF8F3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3429000"/>
            <a:ext cx="10058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XLOOKUP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86600" y="3355848"/>
            <a:ext cx="11887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別表から探す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86600" y="3630168"/>
            <a:ext cx="29260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=XLOOKUP(A2,商品ID,単価)</a:t>
            </a:r>
            <a:endParaRPr lang="en-US" sz="670" dirty="0"/>
          </a:p>
        </p:txBody>
      </p:sp>
      <p:sp>
        <p:nvSpPr>
          <p:cNvPr id="31" name="Shape 29"/>
          <p:cNvSpPr/>
          <p:nvPr/>
        </p:nvSpPr>
        <p:spPr>
          <a:xfrm>
            <a:off x="868680" y="4709160"/>
            <a:ext cx="9418320" cy="731520"/>
          </a:xfrm>
          <a:prstGeom prst="rect">
            <a:avLst/>
          </a:prstGeom>
          <a:solidFill>
            <a:srgbClr val="FFF2C6"/>
          </a:solidFill>
          <a:ln w="8890">
            <a:solidFill>
              <a:srgbClr val="EAD18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4910328"/>
            <a:ext cx="6400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651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覚え方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828800" y="4873752"/>
            <a:ext cx="80467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関数名を暗記するより、「合計したい」「平均を見たい」「条件で分けたい」のように目的から選びます。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データ整理：フィルターと並べ替え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881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表から必要な行を見つける、順番を変えるための基本機能です。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1064240" cy="0"/>
          </a:xfrm>
          <a:prstGeom prst="line">
            <a:avLst/>
          </a:prstGeom>
          <a:noFill/>
          <a:ln w="1016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10528"/>
            <a:ext cx="4754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 初心者向け｜その他の基本操作</a:t>
            </a:r>
            <a:endParaRPr lang="en-US" sz="480" dirty="0"/>
          </a:p>
        </p:txBody>
      </p:sp>
      <p:sp>
        <p:nvSpPr>
          <p:cNvPr id="6" name="Text 4"/>
          <p:cNvSpPr/>
          <p:nvPr/>
        </p:nvSpPr>
        <p:spPr>
          <a:xfrm>
            <a:off x="11128248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4480560" cy="2926080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82496"/>
            <a:ext cx="1371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フィルター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43000" y="2103120"/>
            <a:ext cx="1051560" cy="347472"/>
          </a:xfrm>
          <a:prstGeom prst="rect">
            <a:avLst/>
          </a:prstGeom>
          <a:solidFill>
            <a:srgbClr val="0B6B3A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5004" y="2139696"/>
            <a:ext cx="9875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支店 ▼</a:t>
            </a:r>
            <a:endParaRPr lang="en-US" sz="580" dirty="0"/>
          </a:p>
        </p:txBody>
      </p:sp>
      <p:sp>
        <p:nvSpPr>
          <p:cNvPr id="11" name="Shape 9"/>
          <p:cNvSpPr/>
          <p:nvPr/>
        </p:nvSpPr>
        <p:spPr>
          <a:xfrm>
            <a:off x="2194560" y="2103120"/>
            <a:ext cx="1051560" cy="347472"/>
          </a:xfrm>
          <a:prstGeom prst="rect">
            <a:avLst/>
          </a:prstGeom>
          <a:solidFill>
            <a:srgbClr val="0B6B3A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26564" y="2139696"/>
            <a:ext cx="9875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 ▼</a:t>
            </a:r>
            <a:endParaRPr lang="en-US" sz="580" dirty="0"/>
          </a:p>
        </p:txBody>
      </p:sp>
      <p:sp>
        <p:nvSpPr>
          <p:cNvPr id="13" name="Shape 11"/>
          <p:cNvSpPr/>
          <p:nvPr/>
        </p:nvSpPr>
        <p:spPr>
          <a:xfrm>
            <a:off x="3246120" y="2103120"/>
            <a:ext cx="1051560" cy="347472"/>
          </a:xfrm>
          <a:prstGeom prst="rect">
            <a:avLst/>
          </a:prstGeom>
          <a:solidFill>
            <a:srgbClr val="0B6B3A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8124" y="2139696"/>
            <a:ext cx="9875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金額 ▼</a:t>
            </a:r>
            <a:endParaRPr lang="en-US" sz="580" dirty="0"/>
          </a:p>
        </p:txBody>
      </p:sp>
      <p:sp>
        <p:nvSpPr>
          <p:cNvPr id="15" name="Shape 13"/>
          <p:cNvSpPr/>
          <p:nvPr/>
        </p:nvSpPr>
        <p:spPr>
          <a:xfrm>
            <a:off x="1143000" y="2450592"/>
            <a:ext cx="105156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5004" y="2487168"/>
            <a:ext cx="9875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大阪</a:t>
            </a:r>
            <a:endParaRPr lang="en-US" sz="580" dirty="0"/>
          </a:p>
        </p:txBody>
      </p:sp>
      <p:sp>
        <p:nvSpPr>
          <p:cNvPr id="17" name="Shape 15"/>
          <p:cNvSpPr/>
          <p:nvPr/>
        </p:nvSpPr>
        <p:spPr>
          <a:xfrm>
            <a:off x="2194560" y="2450592"/>
            <a:ext cx="105156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26564" y="2487168"/>
            <a:ext cx="9875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ペン</a:t>
            </a:r>
            <a:endParaRPr lang="en-US" sz="580" dirty="0"/>
          </a:p>
        </p:txBody>
      </p:sp>
      <p:sp>
        <p:nvSpPr>
          <p:cNvPr id="19" name="Shape 17"/>
          <p:cNvSpPr/>
          <p:nvPr/>
        </p:nvSpPr>
        <p:spPr>
          <a:xfrm>
            <a:off x="3246120" y="2450592"/>
            <a:ext cx="105156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8124" y="2487168"/>
            <a:ext cx="9875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1000</a:t>
            </a:r>
            <a:endParaRPr lang="en-US" sz="580" dirty="0"/>
          </a:p>
        </p:txBody>
      </p:sp>
      <p:sp>
        <p:nvSpPr>
          <p:cNvPr id="21" name="Shape 19"/>
          <p:cNvSpPr/>
          <p:nvPr/>
        </p:nvSpPr>
        <p:spPr>
          <a:xfrm>
            <a:off x="1143000" y="2798064"/>
            <a:ext cx="1051560" cy="347472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5004" y="2834640"/>
            <a:ext cx="9875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2194560" y="2798064"/>
            <a:ext cx="1051560" cy="347472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26564" y="2834640"/>
            <a:ext cx="9875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ノート</a:t>
            </a:r>
            <a:endParaRPr lang="en-US" sz="580" dirty="0"/>
          </a:p>
        </p:txBody>
      </p:sp>
      <p:sp>
        <p:nvSpPr>
          <p:cNvPr id="25" name="Shape 23"/>
          <p:cNvSpPr/>
          <p:nvPr/>
        </p:nvSpPr>
        <p:spPr>
          <a:xfrm>
            <a:off x="3246120" y="2798064"/>
            <a:ext cx="1051560" cy="347472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78124" y="2834640"/>
            <a:ext cx="9875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2500</a:t>
            </a:r>
            <a:endParaRPr lang="en-US" sz="580" dirty="0"/>
          </a:p>
        </p:txBody>
      </p:sp>
      <p:sp>
        <p:nvSpPr>
          <p:cNvPr id="27" name="Shape 25"/>
          <p:cNvSpPr/>
          <p:nvPr/>
        </p:nvSpPr>
        <p:spPr>
          <a:xfrm>
            <a:off x="1143000" y="3145536"/>
            <a:ext cx="105156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5004" y="3182112"/>
            <a:ext cx="9875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大阪</a:t>
            </a:r>
            <a:endParaRPr lang="en-US" sz="580" dirty="0"/>
          </a:p>
        </p:txBody>
      </p:sp>
      <p:sp>
        <p:nvSpPr>
          <p:cNvPr id="29" name="Shape 27"/>
          <p:cNvSpPr/>
          <p:nvPr/>
        </p:nvSpPr>
        <p:spPr>
          <a:xfrm>
            <a:off x="2194560" y="3145536"/>
            <a:ext cx="105156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26564" y="3182112"/>
            <a:ext cx="9875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</a:t>
            </a:r>
            <a:endParaRPr lang="en-US" sz="580" dirty="0"/>
          </a:p>
        </p:txBody>
      </p:sp>
      <p:sp>
        <p:nvSpPr>
          <p:cNvPr id="31" name="Shape 29"/>
          <p:cNvSpPr/>
          <p:nvPr/>
        </p:nvSpPr>
        <p:spPr>
          <a:xfrm>
            <a:off x="3246120" y="3145536"/>
            <a:ext cx="105156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8124" y="3182112"/>
            <a:ext cx="9875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800</a:t>
            </a:r>
            <a:endParaRPr lang="en-US" sz="580" dirty="0"/>
          </a:p>
        </p:txBody>
      </p:sp>
      <p:sp>
        <p:nvSpPr>
          <p:cNvPr id="33" name="Text 31"/>
          <p:cNvSpPr/>
          <p:nvPr/>
        </p:nvSpPr>
        <p:spPr>
          <a:xfrm>
            <a:off x="1234440" y="3566160"/>
            <a:ext cx="34747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条件に合う行だけを表示する。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例：大阪支店だけ、金額1000以上だけ。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760720" y="1417320"/>
            <a:ext cx="4480560" cy="2926080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1682496"/>
            <a:ext cx="1371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並べ替え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0" y="2212848"/>
            <a:ext cx="1417320" cy="365760"/>
          </a:xfrm>
          <a:prstGeom prst="rect">
            <a:avLst/>
          </a:prstGeom>
          <a:solidFill>
            <a:srgbClr val="DDF3E7"/>
          </a:solidFill>
          <a:ln w="8890">
            <a:solidFill>
              <a:srgbClr val="DDF3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2331720"/>
            <a:ext cx="12344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金額：小→大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7955280" y="2404872"/>
            <a:ext cx="777240" cy="0"/>
          </a:xfrm>
          <a:prstGeom prst="line">
            <a:avLst/>
          </a:prstGeom>
          <a:noFill/>
          <a:ln w="15240">
            <a:solidFill>
              <a:srgbClr val="0B6B3A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869680" y="2212848"/>
            <a:ext cx="914400" cy="365760"/>
          </a:xfrm>
          <a:prstGeom prst="rect">
            <a:avLst/>
          </a:prstGeom>
          <a:solidFill>
            <a:srgbClr val="FFF2C6"/>
          </a:solidFill>
          <a:ln w="8890">
            <a:solidFill>
              <a:srgbClr val="EAD18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15984" y="2212848"/>
            <a:ext cx="594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2500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126480" y="3566160"/>
            <a:ext cx="34747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日付順、金額順、五十音順などに並べ直す。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14400" y="4983480"/>
            <a:ext cx="9326880" cy="457200"/>
          </a:xfrm>
          <a:prstGeom prst="rect">
            <a:avLst/>
          </a:prstGeom>
          <a:solidFill>
            <a:srgbClr val="FDE8E8"/>
          </a:solidFill>
          <a:ln w="8890">
            <a:solidFill>
              <a:srgbClr val="F2B5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15568" y="5157216"/>
            <a:ext cx="89154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注意：表の一部分だけ選んで並べ替えると、行の対応関係が崩れることがあります。表全体を範囲に含めて操作します。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テーブル化すると表が扱いやすくなる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881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Excelの「テーブル」は、単なる見た目ではなく管理しやすい表にする機能です。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1064240" cy="0"/>
          </a:xfrm>
          <a:prstGeom prst="line">
            <a:avLst/>
          </a:prstGeom>
          <a:noFill/>
          <a:ln w="1016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10528"/>
            <a:ext cx="4754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 初心者向け｜その他の基本操作</a:t>
            </a:r>
            <a:endParaRPr lang="en-US" sz="480" dirty="0"/>
          </a:p>
        </p:txBody>
      </p:sp>
      <p:sp>
        <p:nvSpPr>
          <p:cNvPr id="6" name="Text 4"/>
          <p:cNvSpPr/>
          <p:nvPr/>
        </p:nvSpPr>
        <p:spPr>
          <a:xfrm>
            <a:off x="11128248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292608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783080"/>
            <a:ext cx="2377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普通の表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77640" y="1920240"/>
            <a:ext cx="731520" cy="0"/>
          </a:xfrm>
          <a:prstGeom prst="line">
            <a:avLst/>
          </a:prstGeom>
          <a:noFill/>
          <a:ln w="15240">
            <a:solidFill>
              <a:srgbClr val="0B6B3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069080" y="2286000"/>
            <a:ext cx="457200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BFCB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9080" y="2336292"/>
            <a:ext cx="45720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Ctrl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590288" y="2286000"/>
            <a:ext cx="274320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BFCB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2336292"/>
            <a:ext cx="27432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983480" y="1463040"/>
            <a:ext cx="4160520" cy="914400"/>
          </a:xfrm>
          <a:prstGeom prst="rect">
            <a:avLst/>
          </a:prstGeom>
          <a:solidFill>
            <a:srgbClr val="DDF3E7"/>
          </a:solidFill>
          <a:ln w="8890">
            <a:solidFill>
              <a:srgbClr val="DDF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1783080"/>
            <a:ext cx="35661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063240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10438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307592" y="3054096"/>
            <a:ext cx="3995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見出しにフィルターが付く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07592" y="3236976"/>
            <a:ext cx="399592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列ごとに絞り込みや並べ替えがしやすい。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5669280" y="3063240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310438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62472" y="3054096"/>
            <a:ext cx="3995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範囲が自動で広がる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62472" y="3236976"/>
            <a:ext cx="399592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下に入力すると表の一部として扱われる。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914400" y="3867912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909060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307592" y="3858768"/>
            <a:ext cx="3995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デザインが整う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07592" y="4041648"/>
            <a:ext cx="399592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行の見分けがつきやすく、読みやすい表になる。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5669280" y="3867912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3909060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62472" y="3858768"/>
            <a:ext cx="3995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集計しやすい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62472" y="4041648"/>
            <a:ext cx="399592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合計行やピボットテーブルへの連携がしやすい。</a:t>
            </a: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914400" y="5257800"/>
            <a:ext cx="8961120" cy="347472"/>
          </a:xfrm>
          <a:prstGeom prst="rect">
            <a:avLst/>
          </a:prstGeom>
          <a:solidFill>
            <a:srgbClr val="FFF2C6"/>
          </a:solidFill>
          <a:ln w="8890">
            <a:solidFill>
              <a:srgbClr val="EAD18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5394960"/>
            <a:ext cx="859536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初心者ほど、一覧表は最初から「テーブル化」しておくと操作ミスを減らせます。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グラフは「比較したいこと」から選ぶ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881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グラフはきれいに見せるためではなく、数字の違いを見つけるために使います。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1064240" cy="0"/>
          </a:xfrm>
          <a:prstGeom prst="line">
            <a:avLst/>
          </a:prstGeom>
          <a:noFill/>
          <a:ln w="1016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10528"/>
            <a:ext cx="4754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 初心者向け｜その他の基本操作</a:t>
            </a:r>
            <a:endParaRPr lang="en-US" sz="480" dirty="0"/>
          </a:p>
        </p:txBody>
      </p:sp>
      <p:sp>
        <p:nvSpPr>
          <p:cNvPr id="6" name="Text 4"/>
          <p:cNvSpPr/>
          <p:nvPr/>
        </p:nvSpPr>
        <p:spPr>
          <a:xfrm>
            <a:off x="11128248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2743200" cy="1005840"/>
          </a:xfrm>
          <a:prstGeom prst="rect">
            <a:avLst/>
          </a:prstGeom>
          <a:solidFill>
            <a:srgbClr val="DDF3E7"/>
          </a:solidFill>
          <a:ln w="8890">
            <a:solidFill>
              <a:srgbClr val="DDF3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755648"/>
            <a:ext cx="23774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棒グラフ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084832"/>
            <a:ext cx="23774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項目ごとの大小比較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4114800" y="1463040"/>
            <a:ext cx="2743200" cy="1005840"/>
          </a:xfrm>
          <a:prstGeom prst="rect">
            <a:avLst/>
          </a:prstGeom>
          <a:solidFill>
            <a:srgbClr val="E9EFFF"/>
          </a:solidFill>
          <a:ln w="8890">
            <a:solidFill>
              <a:srgbClr val="E9E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755648"/>
            <a:ext cx="23774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59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折れ線グラフ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2084832"/>
            <a:ext cx="23774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時間の変化を見る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7360920" y="1463040"/>
            <a:ext cx="2743200" cy="1005840"/>
          </a:xfrm>
          <a:prstGeom prst="rect">
            <a:avLst/>
          </a:prstGeom>
          <a:solidFill>
            <a:srgbClr val="FFF2C6"/>
          </a:solidFill>
          <a:ln w="8890">
            <a:solidFill>
              <a:srgbClr val="FFF2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1755648"/>
            <a:ext cx="23774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651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円グラフ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43800" y="2084832"/>
            <a:ext cx="23774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全体に対する割合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960120" y="3108960"/>
            <a:ext cx="2011680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3383280"/>
            <a:ext cx="731520" cy="237744"/>
          </a:xfrm>
          <a:prstGeom prst="rect">
            <a:avLst/>
          </a:prstGeom>
          <a:solidFill>
            <a:srgbClr val="0B6B3A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5004" y="3419856"/>
            <a:ext cx="6675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1874520" y="3383280"/>
            <a:ext cx="731520" cy="237744"/>
          </a:xfrm>
          <a:prstGeom prst="rect">
            <a:avLst/>
          </a:prstGeom>
          <a:solidFill>
            <a:srgbClr val="0B6B3A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06524" y="3419856"/>
            <a:ext cx="6675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1143000" y="3621024"/>
            <a:ext cx="731520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5004" y="3657600"/>
            <a:ext cx="6675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1874520" y="3621024"/>
            <a:ext cx="731520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06524" y="3657600"/>
            <a:ext cx="6675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1143000" y="3858768"/>
            <a:ext cx="731520" cy="237744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75004" y="3895344"/>
            <a:ext cx="6675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1874520" y="3858768"/>
            <a:ext cx="731520" cy="237744"/>
          </a:xfrm>
          <a:prstGeom prst="rect">
            <a:avLst/>
          </a:prstGeom>
          <a:solidFill>
            <a:srgbClr val="EFF8F3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06524" y="3895344"/>
            <a:ext cx="6675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1143000" y="4096512"/>
            <a:ext cx="731520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5004" y="4133088"/>
            <a:ext cx="6675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731520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06524" y="4133088"/>
            <a:ext cx="6675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3200400" y="3703320"/>
            <a:ext cx="822960" cy="0"/>
          </a:xfrm>
          <a:prstGeom prst="line">
            <a:avLst/>
          </a:prstGeom>
          <a:noFill/>
          <a:ln w="15240">
            <a:solidFill>
              <a:srgbClr val="0B6B3A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251960" y="3108960"/>
            <a:ext cx="4754880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3429000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570" dirty="0"/>
          </a:p>
        </p:txBody>
      </p:sp>
      <p:sp>
        <p:nvSpPr>
          <p:cNvPr id="36" name="Text 34"/>
          <p:cNvSpPr/>
          <p:nvPr/>
        </p:nvSpPr>
        <p:spPr>
          <a:xfrm>
            <a:off x="4480560" y="3685032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570" dirty="0"/>
          </a:p>
        </p:txBody>
      </p:sp>
      <p:sp>
        <p:nvSpPr>
          <p:cNvPr id="37" name="Text 35"/>
          <p:cNvSpPr/>
          <p:nvPr/>
        </p:nvSpPr>
        <p:spPr>
          <a:xfrm>
            <a:off x="4480560" y="3941064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endParaRPr lang="en-US" sz="570" dirty="0"/>
          </a:p>
        </p:txBody>
      </p:sp>
      <p:sp>
        <p:nvSpPr>
          <p:cNvPr id="38" name="Shape 36"/>
          <p:cNvSpPr/>
          <p:nvPr/>
        </p:nvSpPr>
        <p:spPr>
          <a:xfrm>
            <a:off x="4800600" y="3438144"/>
            <a:ext cx="1463040" cy="10972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3694176"/>
            <a:ext cx="2286000" cy="10972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3950208"/>
            <a:ext cx="914400" cy="10972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69480" y="3675888"/>
            <a:ext cx="10972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売上比較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14400" y="5074920"/>
            <a:ext cx="9326880" cy="475488"/>
          </a:xfrm>
          <a:prstGeom prst="rect">
            <a:avLst/>
          </a:prstGeom>
          <a:solidFill>
            <a:srgbClr val="EFF8F3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15568" y="5257800"/>
            <a:ext cx="89154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コツ：グラフ化する前に、見出し行を含むきれいな表にしておきます。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印刷・PDF化で確認すること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881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画面では読めても、印刷すると崩れることがあります。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1064240" cy="0"/>
          </a:xfrm>
          <a:prstGeom prst="line">
            <a:avLst/>
          </a:prstGeom>
          <a:noFill/>
          <a:ln w="1016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10528"/>
            <a:ext cx="4754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 初心者向け｜その他の基本操作</a:t>
            </a:r>
            <a:endParaRPr lang="en-US" sz="480" dirty="0"/>
          </a:p>
        </p:txBody>
      </p:sp>
      <p:sp>
        <p:nvSpPr>
          <p:cNvPr id="6" name="Text 4"/>
          <p:cNvSpPr/>
          <p:nvPr/>
        </p:nvSpPr>
        <p:spPr>
          <a:xfrm>
            <a:off x="11128248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868680" y="1371600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1274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61872" y="1362456"/>
            <a:ext cx="436168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印刷範囲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61872" y="1545336"/>
            <a:ext cx="43616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余計な空白ページが出ないよう、必要な範囲だけを指定する。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868680" y="2084832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25980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261872" y="2075688"/>
            <a:ext cx="436168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向き・余白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61872" y="2258568"/>
            <a:ext cx="43616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横長の表は横向き、一覧表は余白を狭くするなど調整する。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868680" y="2798064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839212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61872" y="2788920"/>
            <a:ext cx="436168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拡大縮小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61872" y="2971800"/>
            <a:ext cx="43616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「1ページに収める」を使いすぎると文字が小さくなる。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868680" y="3511296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55244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261872" y="3502152"/>
            <a:ext cx="436168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見出しの繰り返し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261872" y="3685032"/>
            <a:ext cx="43616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複数ページの表は、各ページに見出し行を表示させる。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6080760" y="1417320"/>
            <a:ext cx="3474720" cy="3794760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1737360"/>
            <a:ext cx="2560320" cy="3108960"/>
          </a:xfrm>
          <a:prstGeom prst="rect">
            <a:avLst/>
          </a:prstGeom>
          <a:solidFill>
            <a:srgbClr val="FFFFFF"/>
          </a:solidFill>
          <a:ln w="8890">
            <a:solidFill>
              <a:srgbClr val="AAB7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48272" y="2029968"/>
            <a:ext cx="2148840" cy="256032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48272" y="2514600"/>
            <a:ext cx="2148840" cy="164592"/>
          </a:xfrm>
          <a:prstGeom prst="rect">
            <a:avLst/>
          </a:prstGeom>
          <a:solidFill>
            <a:srgbClr val="DDF3E7"/>
          </a:solidFill>
          <a:ln w="8890">
            <a:solidFill>
              <a:srgbClr val="DDF3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2834640"/>
            <a:ext cx="2148840" cy="164592"/>
          </a:xfrm>
          <a:prstGeom prst="rect">
            <a:avLst/>
          </a:prstGeom>
          <a:solidFill>
            <a:srgbClr val="DDF3E7"/>
          </a:solidFill>
          <a:ln w="8890">
            <a:solidFill>
              <a:srgbClr val="DDF3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48272" y="3154680"/>
            <a:ext cx="2148840" cy="164592"/>
          </a:xfrm>
          <a:prstGeom prst="rect">
            <a:avLst/>
          </a:prstGeom>
          <a:solidFill>
            <a:srgbClr val="DDF3E7"/>
          </a:solidFill>
          <a:ln w="8890">
            <a:solidFill>
              <a:srgbClr val="DDF3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8272" y="3977640"/>
            <a:ext cx="21488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印刷プレビューで確認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4400" y="5257800"/>
            <a:ext cx="9326880" cy="393192"/>
          </a:xfrm>
          <a:prstGeom prst="rect">
            <a:avLst/>
          </a:prstGeom>
          <a:solidFill>
            <a:srgbClr val="FFF2C6"/>
          </a:solidFill>
          <a:ln w="8890">
            <a:solidFill>
              <a:srgbClr val="EAD1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5568" y="5404104"/>
            <a:ext cx="89154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提出前は、Excel画面ではなく「PDFに出した状態」で最終確認すると安全です。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共有前にやること：保護・名前・履歴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881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複数人で使うExcelは、編集ミスが起きる前提で準備します。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1064240" cy="0"/>
          </a:xfrm>
          <a:prstGeom prst="line">
            <a:avLst/>
          </a:prstGeom>
          <a:noFill/>
          <a:ln w="1016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10528"/>
            <a:ext cx="4754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 初心者向け｜その他の基本操作</a:t>
            </a:r>
            <a:endParaRPr lang="en-US" sz="480" dirty="0"/>
          </a:p>
        </p:txBody>
      </p:sp>
      <p:sp>
        <p:nvSpPr>
          <p:cNvPr id="6" name="Text 4"/>
          <p:cNvSpPr/>
          <p:nvPr/>
        </p:nvSpPr>
        <p:spPr>
          <a:xfrm>
            <a:off x="11128248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4343400" cy="868680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600200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64134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435608" y="1581912"/>
            <a:ext cx="34747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シート名を分かりやすく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35608" y="1856232"/>
            <a:ext cx="3474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Sheet1ではなく、入力用・集計・マスタなど役割で名前を付ける。</a:t>
            </a:r>
            <a:endParaRPr lang="en-US" sz="710" dirty="0"/>
          </a:p>
        </p:txBody>
      </p:sp>
      <p:sp>
        <p:nvSpPr>
          <p:cNvPr id="12" name="Shape 10"/>
          <p:cNvSpPr/>
          <p:nvPr/>
        </p:nvSpPr>
        <p:spPr>
          <a:xfrm>
            <a:off x="5715000" y="1417320"/>
            <a:ext cx="4343400" cy="868680"/>
          </a:xfrm>
          <a:prstGeom prst="rect">
            <a:avLst/>
          </a:prstGeom>
          <a:solidFill>
            <a:srgbClr val="EFF8F3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97880" y="1600200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64134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81928" y="1581912"/>
            <a:ext cx="34747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編集してよい範囲を明確に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81928" y="1856232"/>
            <a:ext cx="3474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入力欄だけ色を付け、計算式のセルは触らないようにする。</a:t>
            </a:r>
            <a:endParaRPr lang="en-US" sz="710" dirty="0"/>
          </a:p>
        </p:txBody>
      </p:sp>
      <p:sp>
        <p:nvSpPr>
          <p:cNvPr id="17" name="Shape 15"/>
          <p:cNvSpPr/>
          <p:nvPr/>
        </p:nvSpPr>
        <p:spPr>
          <a:xfrm>
            <a:off x="868680" y="2651760"/>
            <a:ext cx="4343400" cy="868680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34640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287578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435608" y="2816352"/>
            <a:ext cx="34747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シート保護を使う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435608" y="3090672"/>
            <a:ext cx="3474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誤って数式を消されないよう、必要に応じて保護する。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5715000" y="2651760"/>
            <a:ext cx="4343400" cy="868680"/>
          </a:xfrm>
          <a:prstGeom prst="rect">
            <a:avLst/>
          </a:prstGeom>
          <a:solidFill>
            <a:srgbClr val="EFF8F3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2834640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287578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81928" y="2816352"/>
            <a:ext cx="34747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ファイル名に日付・版数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81928" y="3090672"/>
            <a:ext cx="3474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例：売上集計_20260818_v01.xlsx のように履歴を残す。</a:t>
            </a:r>
            <a:endParaRPr lang="en-US" sz="710" dirty="0"/>
          </a:p>
        </p:txBody>
      </p:sp>
      <p:sp>
        <p:nvSpPr>
          <p:cNvPr id="27" name="Shape 25"/>
          <p:cNvSpPr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solidFill>
            <a:srgbClr val="FDE8E8"/>
          </a:solidFill>
          <a:ln w="8890">
            <a:solidFill>
              <a:srgbClr val="F2B5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4773168"/>
            <a:ext cx="12801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64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事故を防ぐ考え方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60320" y="4736592"/>
            <a:ext cx="713232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「触ってはいけないセルを触らないで」と頼むだけでは不十分です。色・保護・ファイル名で事故を起こしにくくします。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提出前チェックリスト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881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誰かに渡す前に、最低限ここだけ確認します。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1064240" cy="0"/>
          </a:xfrm>
          <a:prstGeom prst="line">
            <a:avLst/>
          </a:prstGeom>
          <a:noFill/>
          <a:ln w="1016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10528"/>
            <a:ext cx="4754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 初心者向け｜その他の基本操作</a:t>
            </a:r>
            <a:endParaRPr lang="en-US" sz="480" dirty="0"/>
          </a:p>
        </p:txBody>
      </p:sp>
      <p:sp>
        <p:nvSpPr>
          <p:cNvPr id="6" name="Text 4"/>
          <p:cNvSpPr/>
          <p:nvPr/>
        </p:nvSpPr>
        <p:spPr>
          <a:xfrm>
            <a:off x="11128248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868680" y="1298448"/>
            <a:ext cx="452628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" y="1463040"/>
            <a:ext cx="201168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B6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435608"/>
            <a:ext cx="9144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表の形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331720" y="1435608"/>
            <a:ext cx="28346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見出しは1行／1行1件／空白行が混ざっていない</a:t>
            </a:r>
            <a:endParaRPr lang="en-US" sz="710" dirty="0"/>
          </a:p>
        </p:txBody>
      </p:sp>
      <p:sp>
        <p:nvSpPr>
          <p:cNvPr id="11" name="Shape 9"/>
          <p:cNvSpPr/>
          <p:nvPr/>
        </p:nvSpPr>
        <p:spPr>
          <a:xfrm>
            <a:off x="5852160" y="1298448"/>
            <a:ext cx="452628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16752" y="1463040"/>
            <a:ext cx="201168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B6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435608"/>
            <a:ext cx="9144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0" y="1435608"/>
            <a:ext cx="28346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数値・日付・文字列が正しく入っている</a:t>
            </a:r>
            <a:endParaRPr lang="en-US" sz="710" dirty="0"/>
          </a:p>
        </p:txBody>
      </p:sp>
      <p:sp>
        <p:nvSpPr>
          <p:cNvPr id="15" name="Shape 13"/>
          <p:cNvSpPr/>
          <p:nvPr/>
        </p:nvSpPr>
        <p:spPr>
          <a:xfrm>
            <a:off x="868680" y="2121408"/>
            <a:ext cx="452628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3272" y="2286000"/>
            <a:ext cx="201168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B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258568"/>
            <a:ext cx="9144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31720" y="2258568"/>
            <a:ext cx="28346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数式が途中で切れていない／合計が直感と合う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5852160" y="2121408"/>
            <a:ext cx="452628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16752" y="2286000"/>
            <a:ext cx="201168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B6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258568"/>
            <a:ext cx="9144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0" y="2258568"/>
            <a:ext cx="28346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列幅不足の #### や文字切れがない</a:t>
            </a:r>
            <a:endParaRPr lang="en-US" sz="710" dirty="0"/>
          </a:p>
        </p:txBody>
      </p:sp>
      <p:sp>
        <p:nvSpPr>
          <p:cNvPr id="23" name="Shape 21"/>
          <p:cNvSpPr/>
          <p:nvPr/>
        </p:nvSpPr>
        <p:spPr>
          <a:xfrm>
            <a:off x="868680" y="2944368"/>
            <a:ext cx="452628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3272" y="3108960"/>
            <a:ext cx="201168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B6B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3081528"/>
            <a:ext cx="9144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整理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331720" y="3081528"/>
            <a:ext cx="28346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フィルターや並べ替えで行の対応が崩れていない</a:t>
            </a:r>
            <a:endParaRPr lang="en-US" sz="710" dirty="0"/>
          </a:p>
        </p:txBody>
      </p:sp>
      <p:sp>
        <p:nvSpPr>
          <p:cNvPr id="27" name="Shape 25"/>
          <p:cNvSpPr/>
          <p:nvPr/>
        </p:nvSpPr>
        <p:spPr>
          <a:xfrm>
            <a:off x="5852160" y="2944368"/>
            <a:ext cx="452628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16752" y="3108960"/>
            <a:ext cx="201168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B6B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081528"/>
            <a:ext cx="9144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印刷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315200" y="3081528"/>
            <a:ext cx="28346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PDF化して、ページ数・余白・見出しを確認した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914400" y="4892040"/>
            <a:ext cx="9326880" cy="502920"/>
          </a:xfrm>
          <a:prstGeom prst="rect">
            <a:avLst/>
          </a:prstGeom>
          <a:solidFill>
            <a:srgbClr val="DDF3E7"/>
          </a:solidFill>
          <a:ln w="8890">
            <a:solidFill>
              <a:srgbClr val="DDF3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3000" y="5074920"/>
            <a:ext cx="8869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迷ったら「このExcelを初めて見る人が、説明なしで使えるか？」で確認します。</a:t>
            </a:r>
            <a:endParaRPr lang="en-US" sz="8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881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Excelは、見た目よりも「後で使いやすいデータ」にすることが大切です。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1064240" cy="0"/>
          </a:xfrm>
          <a:prstGeom prst="line">
            <a:avLst/>
          </a:prstGeom>
          <a:noFill/>
          <a:ln w="1016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10528"/>
            <a:ext cx="4754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 初心者向け｜その他の基本操作</a:t>
            </a:r>
            <a:endParaRPr lang="en-US" sz="480" dirty="0"/>
          </a:p>
        </p:txBody>
      </p:sp>
      <p:sp>
        <p:nvSpPr>
          <p:cNvPr id="6" name="Text 4"/>
          <p:cNvSpPr/>
          <p:nvPr/>
        </p:nvSpPr>
        <p:spPr>
          <a:xfrm>
            <a:off x="11128248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914400" y="1463040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0418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07592" y="1453896"/>
            <a:ext cx="436168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表の土台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307592" y="1636776"/>
            <a:ext cx="43616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1行1件・1列1項目で作る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914400" y="2212848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253996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307592" y="2203704"/>
            <a:ext cx="436168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入力の質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307592" y="2386584"/>
            <a:ext cx="43616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数値・日付・文字列を混ぜない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914400" y="2962656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003804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307592" y="2953512"/>
            <a:ext cx="436168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整理の基本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307592" y="3136392"/>
            <a:ext cx="43616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フィルター・並べ替え・テーブルを使う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914400" y="3712464"/>
            <a:ext cx="292608" cy="292608"/>
          </a:xfrm>
          <a:prstGeom prst="rect">
            <a:avLst/>
          </a:prstGeom>
          <a:solidFill>
            <a:srgbClr val="0B6B3A"/>
          </a:solidFill>
          <a:ln w="8890">
            <a:solidFill>
              <a:srgbClr val="0B6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753612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07592" y="3703320"/>
            <a:ext cx="436168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共有前確認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307592" y="3886200"/>
            <a:ext cx="43616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37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PDF化・保護・ファイル名で事故を防ぐ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6263640" y="1645920"/>
            <a:ext cx="3383280" cy="1828800"/>
          </a:xfrm>
          <a:prstGeom prst="rect">
            <a:avLst/>
          </a:prstGeom>
          <a:solidFill>
            <a:srgbClr val="DDF3E7"/>
          </a:solidFill>
          <a:ln w="8890">
            <a:solidFill>
              <a:srgbClr val="DDF3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1920240"/>
            <a:ext cx="2880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今日からの使い方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2340864"/>
            <a:ext cx="237744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表の形を決める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入力ルールをそろえる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テーブル化して整理する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提出前にPDFで確認する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4251960"/>
            <a:ext cx="338328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5E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443984"/>
            <a:ext cx="29260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25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関数や高度機能は、土台が整ってから使うと効果が出ます。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Excel初心者向け その他の基本操作 説明用スライド</dc:title>
  <dc:subject>Excel初心者向け その他の基本操作</dc:subject>
  <dc:creator>OpenAI</dc:creator>
  <cp:lastModifiedBy>OpenAI</cp:lastModifiedBy>
  <cp:revision>1</cp:revision>
  <dcterms:created xsi:type="dcterms:W3CDTF">2026-08-18T07:29:00Z</dcterms:created>
  <dcterms:modified xsi:type="dcterms:W3CDTF">2026-08-18T07:29:00Z</dcterms:modified>
</cp:coreProperties>
</file>