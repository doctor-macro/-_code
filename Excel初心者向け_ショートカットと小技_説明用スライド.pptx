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目的：配布したWord版教材を、講習・説明用に再構成したスライドです。
最初に「関数の授業ではない」ことを明確にし、作業を速く安全にする操作の型を扱うと説明してください。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この講習で到達したい状態を示します。
操作名ではなく「いつ使うか」とセットで覚える方が定着しやすいと説明します。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必修15個のうち前半です。最初は数を増やしすぎず、Ctrl+SとCtrl+Zを最優先にしてください。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移動と選択は初心者ほど効果が大きい部分です。
実演するなら、A2からCtrl+↓で末尾、Ctrl+Homeで戻る操作を見せます。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フラッシュフィルは便利ですが関数ではないため、自動追従しない点を強調します。
実務ではF2とAlt+Enterだけでも入力時のストレスが下がります。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貼り付けは初心者の事故が多い部分です。
Ctrl+Alt+Vを「貼り付ける内容を選ぶ入り口」として覚えさせます。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URLで示されていた小技の説明用スライドです。
実演時は「行番号をクリック」「選択範囲の境界をつかむ」「Shiftを押したまま移動」をゆっくり見せます。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Deleteキーはセルや行列を消すのではなく、主に中身を消す操作だと説明します。
挿入・削除は実際の表を使って動きを見せると理解しやすいです。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#####は最初に列幅を見る癖をつけます。
整形は「見た目を飾る」よりも、読み間違いを減らすために行うと説明します。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置換は実務で強力ですが事故も多いです。
「すべて置換」は必ず保存・範囲指定・件数確認とセットで使うよう説明してください。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フィルター・並べ替え・テーブルは「関数なしで効く」代表操作です。
特に1列だけ選んで並べ替える事故は強調してください。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グループ化は便利ですが初心者には危険な小技です。
講習では「解除までが操作」とセットで説明します。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ミスと防ぎ方の対比です。
初心者教育では「ミスしても戻せる」ことが重要なので、Ctrl+Zを心理的安全性として説明します。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30分実習の進め方です。
スライドを見せたあと、各自に実際のExcelで操作してもらうと定着します。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最後に配布用チートシートとして使えるスライドです。
最初から全部覚える必要はなく、今日の業務で1つでも使うことを宿題にします。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まとめスライドです。講習の最後に、最初から全部暗記しないことを強調します。
「明日から使うショートカットを3つ選ぶ」などの行動目標を設定するとよいです。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0350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ショートカット＆小技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説明用スライド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8163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関数を覚える前に身につけたい「操作の型」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0" y="1005840"/>
            <a:ext cx="1828800" cy="566928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保存・元に戻す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0" y="1874520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表を壊さない貼り付け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03720" y="2788920"/>
            <a:ext cx="2148840" cy="566928"/>
          </a:xfrm>
          <a:prstGeom prst="rect">
            <a:avLst/>
          </a:prstGeom>
          <a:solidFill>
            <a:srgbClr val="FFF4D4"/>
          </a:solidFill>
          <a:ln w="12700">
            <a:solidFill>
              <a:srgbClr val="E7C66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Shift＋ドラッグ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09760" y="3657600"/>
            <a:ext cx="1508760" cy="566928"/>
          </a:xfrm>
          <a:prstGeom prst="rect">
            <a:avLst/>
          </a:prstGeom>
          <a:solidFill>
            <a:srgbClr val="E6EEFF"/>
          </a:solidFill>
          <a:ln w="12700">
            <a:solidFill>
              <a:srgbClr val="BDD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検索・置換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496519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対象：Excelをほとんど使ったことがない人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ゴール：迷わず・速く・安全に表を扱う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0" y="60807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この講習のゴール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Excel初心者が最初に身につけるべき操作は「速さ」よりも「表を壊さないこと」です。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90472" y="159105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マウスだけに頼らない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0472" y="188366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大きな表でも、目的の場所へすぐ移動できる。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90472" y="248716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貼り付けで表を崩さない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0472" y="2779776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値・書式・行列入れ替えを選んで使える。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339242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90472" y="338328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行・列を安全に動かす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0472" y="367588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挿入・削除・入れ替えの事故を減らす。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77240" y="4288536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90472" y="427939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探す時間を減らす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0472" y="45720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検索・置換・フィルターで作業対象を絞る。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629400" y="1536192"/>
            <a:ext cx="1828800" cy="420624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覚える順番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167128"/>
            <a:ext cx="2148840" cy="502920"/>
          </a:xfrm>
          <a:prstGeom prst="rect">
            <a:avLst/>
          </a:prstGeom>
          <a:solidFill>
            <a:srgbClr val="DDF4E8"/>
          </a:solidFill>
          <a:ln w="12700">
            <a:solidFill>
              <a:srgbClr val="B5DD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必修15個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16952" y="2971800"/>
            <a:ext cx="2148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操作の型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49640" y="3776472"/>
            <a:ext cx="2148840" cy="502920"/>
          </a:xfrm>
          <a:prstGeom prst="rect">
            <a:avLst/>
          </a:prstGeom>
          <a:solidFill>
            <a:srgbClr val="FFF4D4"/>
          </a:solidFill>
          <a:ln w="12700">
            <a:solidFill>
              <a:srgbClr val="E7C66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最初に覚える「必修15個」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暗記ではなく、作業場面とセットで覚えます。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8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事故防止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35608" y="19385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64208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55848" y="19385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9748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元に戻す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76088" y="19385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04688" y="19385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772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やり直し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8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基本編集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35608" y="33101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64208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コピー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55848" y="33101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84448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69748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貼り付け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276088" y="33101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3101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1772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切り取り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4343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8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探す・選ぶ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435608" y="46817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64208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7724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23160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081528" y="46817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310128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242316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069080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727448" y="46817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56048" y="4681728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06908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全選択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0" y="1828800"/>
            <a:ext cx="3337560" cy="237744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優先ルール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 Ctrl+S と Ctrl+Z。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失敗しても戻せる状態を作る。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大きな表で迷わない「移動・選択」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長い表をスクロールで追わず、キー操作で端へ移動します。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914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1947672"/>
            <a:ext cx="2011680" cy="0"/>
          </a:xfrm>
          <a:prstGeom prst="line">
            <a:avLst/>
          </a:prstGeom>
          <a:noFill/>
          <a:ln w="2794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60520" y="1691640"/>
            <a:ext cx="1417320" cy="502920"/>
          </a:xfrm>
          <a:prstGeom prst="rect">
            <a:avLst/>
          </a:prstGeom>
          <a:solidFill>
            <a:srgbClr val="DDF4E8"/>
          </a:solidFill>
          <a:ln w="12700">
            <a:solidFill>
              <a:srgbClr val="1F8A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データ末尾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59152" y="2395728"/>
            <a:ext cx="73152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090672" y="23957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2395728"/>
            <a:ext cx="56692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データが続く方向の端まで移動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481328"/>
            <a:ext cx="71323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05472" y="148132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4072" y="1481328"/>
            <a:ext cx="950976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10528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A1へ戻る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633472"/>
            <a:ext cx="71323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205472" y="263347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34072" y="2633472"/>
            <a:ext cx="91440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48472" y="263347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77072" y="2633472"/>
            <a:ext cx="56692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0528" y="3163824"/>
            <a:ext cx="25603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列をまとめて選択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3785616"/>
            <a:ext cx="71323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05472" y="3785616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3785616"/>
            <a:ext cx="123444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PageDown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10528" y="4315968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次のシートへ移動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71323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05472" y="493776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34072" y="4937760"/>
            <a:ext cx="107899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PageUp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0528" y="5468112"/>
            <a:ext cx="2651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前のシートへ移動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入力・編集を速くする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入力中にマウスへ持ち替える回数を減らします。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0934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81912" y="16002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セル内を編集する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1912" y="189280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F2：セルをダブルクリックせず編集モードへ。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68680" y="252374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1912" y="25146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セル内で改行する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1912" y="280720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Alt＋Enter：説明文や住所などを1セル内で整える。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43814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81912" y="34290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上のセルをコピーする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1912" y="372160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Ctrl＋D：同じ値・同じ書式を下へコピー。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68680" y="435254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81912" y="434340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規則性を見せて埋める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636008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フラッシュフィル：1〜2個の正解例から自動入力。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629400" y="1737360"/>
            <a:ext cx="3383280" cy="45720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例：氏名から「姓」だけ作る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2395728"/>
            <a:ext cx="2097634" cy="400050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氏名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27034" y="2395728"/>
            <a:ext cx="1285646" cy="400050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795778"/>
            <a:ext cx="2097634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花子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27034" y="2795778"/>
            <a:ext cx="128564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195828"/>
            <a:ext cx="2097634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27034" y="3195828"/>
            <a:ext cx="128564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595878"/>
            <a:ext cx="2097634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鈴木 一郎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27034" y="3595878"/>
            <a:ext cx="128564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297680"/>
            <a:ext cx="370332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注意：フラッシュフィルは値を埋める機能。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元データを後で変えても自動追従しません。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コピー＆貼り付けを安全に使う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初心者が表を崩しやすい原因は「そのまま貼り付け」です。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1874520" cy="530352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コピー元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26080" y="2139696"/>
            <a:ext cx="1097280" cy="0"/>
          </a:xfrm>
          <a:prstGeom prst="line">
            <a:avLst/>
          </a:prstGeom>
          <a:noFill/>
          <a:ln w="3048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51960" y="1874520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貼り付け先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2139696"/>
            <a:ext cx="1051560" cy="0"/>
          </a:xfrm>
          <a:prstGeom prst="line">
            <a:avLst/>
          </a:prstGeom>
          <a:noFill/>
          <a:ln w="3048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635240" y="1874520"/>
            <a:ext cx="1965960" cy="530352"/>
          </a:xfrm>
          <a:prstGeom prst="rect">
            <a:avLst/>
          </a:prstGeom>
          <a:solidFill>
            <a:srgbClr val="FFF4D4"/>
          </a:solidFill>
          <a:ln w="12700">
            <a:solidFill>
              <a:srgbClr val="E7C66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内容を選ぶ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2907792"/>
            <a:ext cx="73152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90779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907792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21808" y="290779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0408" y="2907792"/>
            <a:ext cx="640080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84448" y="3493008"/>
            <a:ext cx="28346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形式を選択して貼り付け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値だけ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88920" y="45720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書式だけ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4572000"/>
            <a:ext cx="1783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行列入れ替え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457200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計算式だけ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572000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点線は Esc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小技の主役：Shift＋ドラッグで差し込む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選択範囲を「上書き移動」ではなく、間に差し込むように移動できます。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2798064"/>
            <a:ext cx="1847088" cy="0"/>
          </a:xfrm>
          <a:prstGeom prst="line">
            <a:avLst/>
          </a:prstGeom>
          <a:noFill/>
          <a:ln w="3302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96912" y="2798064"/>
            <a:ext cx="1051560" cy="0"/>
          </a:xfrm>
          <a:prstGeom prst="line">
            <a:avLst/>
          </a:prstGeom>
          <a:noFill/>
          <a:ln w="3302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1691640" cy="45720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行を選択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58722" y="242316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山田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58722" y="283464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24612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58722" y="324612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1783080" cy="457200"/>
          </a:xfrm>
          <a:prstGeom prst="rect">
            <a:avLst/>
          </a:prstGeom>
          <a:solidFill>
            <a:srgbClr val="FFF4D4"/>
          </a:solidFill>
          <a:ln w="12700">
            <a:solidFill>
              <a:srgbClr val="E7C66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境界をつかむ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Shiftを押す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0328" y="2578608"/>
            <a:ext cx="987552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07408" y="3246120"/>
            <a:ext cx="21031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太い挿入位置線を確認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1737360"/>
            <a:ext cx="1417320" cy="45720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ドロップ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42316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A001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11082" y="242316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山田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283464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11082" y="283464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3246120"/>
            <a:ext cx="79004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A002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11082" y="3246120"/>
            <a:ext cx="855878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057400" y="4709160"/>
            <a:ext cx="7589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D0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Shiftなしのドラッグは単純移動。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迷ったら Ctrl＋Z。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行・列・セルの挿入・削除・入れ替え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表の構造を変える操作は、必ず「どこが動くか」を確認します。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81912" y="15910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挿入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1912" y="188366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右クリック → 挿入。行なら上、列なら左に追加される。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1912" y="25054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1912" y="279806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Deleteキーは中身だけ。行や列そのものは右クリック→削除。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81912" y="34198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入れ替え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1912" y="371246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隣接行・列はShift＋ドラッグで差し込み移動。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81912" y="43342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戻す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62686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想定外ならすぐCtrl＋Z。保存直後なら安全度が高い。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583680" y="1783080"/>
            <a:ext cx="2926080" cy="45720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初心者の誤解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2926080" cy="512064"/>
          </a:xfrm>
          <a:prstGeom prst="rect">
            <a:avLst/>
          </a:prstGeom>
          <a:solidFill>
            <a:srgbClr val="FFECEC"/>
          </a:solidFill>
          <a:ln w="12700">
            <a:solidFill>
              <a:srgbClr val="F2B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Delete = セル削除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3246120"/>
            <a:ext cx="2926080" cy="512064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実際は「中身を消す」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096512"/>
            <a:ext cx="310896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行・列そのものを消すには、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行番号・列番号を選んで「削除」。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見やすい表にする「整形」小技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整形は飾りではなく、読み間違いを減らすための操作です。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965960" cy="685800"/>
          </a:xfrm>
          <a:prstGeom prst="rect">
            <a:avLst/>
          </a:prstGeom>
          <a:solidFill>
            <a:srgbClr val="FFECEC"/>
          </a:solidFill>
          <a:ln w="12700">
            <a:solidFill>
              <a:srgbClr val="F2B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4C4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#####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5146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エラーとは限らない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列幅不足の可能性が高い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1828800"/>
            <a:ext cx="2377440" cy="82296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列見出しの境界を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ダブルクリック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90672" y="2093976"/>
            <a:ext cx="502920" cy="0"/>
          </a:xfrm>
          <a:prstGeom prst="line">
            <a:avLst/>
          </a:prstGeom>
          <a:noFill/>
          <a:ln w="2794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自動調整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44768" y="2093976"/>
            <a:ext cx="182880" cy="0"/>
          </a:xfrm>
          <a:prstGeom prst="line">
            <a:avLst/>
          </a:prstGeom>
          <a:noFill/>
          <a:ln w="27940">
            <a:solidFill>
              <a:srgbClr val="1F8A5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8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罫線の考え方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15968"/>
            <a:ext cx="457200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すべて太い罫線にしない。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見出し・合計・大きな区切りだけ強調する。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8A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色の考え方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315968"/>
            <a:ext cx="438912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色は2〜3色程度。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意味を持たない色分けは、逆に読みにくい。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検索・置換・ジャンプで「探す時間」を減らす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すべて置換は便利ですが、範囲を絞らないと事故になります。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72768" y="178308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01368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2194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目的の文字・数値を探す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61688" y="178308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2359152"/>
            <a:ext cx="2194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文字列をまとめて変更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50608" y="178308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79208" y="1783080"/>
            <a:ext cx="65836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91A49B"/>
            </a:solidFill>
          </a:ln>
          <a:effectLst>
            <a:outerShdw sx="100000" sy="100000" kx="0" ky="0" algn="bl" rotWithShape="0" blurRad="12700" dist="50800" dir="2700000">
              <a:srgbClr val="DCE5E0">
                <a:alpha val="30000"/>
              </a:srgbClr>
            </a:outerShdw>
          </a:effectLst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51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2359152"/>
            <a:ext cx="2194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ジャンプ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指定セルへ移動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置換前の3ルール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407408"/>
            <a:ext cx="566928" cy="566928"/>
          </a:xfrm>
          <a:prstGeom prst="rect">
            <a:avLst/>
          </a:prstGeom>
          <a:solidFill>
            <a:srgbClr val="D84C4C"/>
          </a:solidFill>
          <a:ln>
            <a:solidFill>
              <a:srgbClr val="D84C4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27632" y="43982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7632" y="46908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Ctrl＋Sで戻れる状態を作る。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572000" y="4407408"/>
            <a:ext cx="566928" cy="566928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85232" y="43982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範囲を選ぶ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5232" y="46908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必要なセルだけ選んでから置換。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8229600" y="4407408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942832" y="43982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件数を見る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42832" y="469087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想定外ならCtrl＋Zで戻す。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データ整理：フィルター・並べ替え・テーブル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関数を使わなくても、見たい行だけに絞るだけで作業はかなり楽になります。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1051560" cy="347472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Filter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見たい行だけ表示する。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例：「営業」だけ、金額10,000円以上だけ。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43400" y="1645920"/>
            <a:ext cx="960120" cy="347472"/>
          </a:xfrm>
          <a:prstGeom prst="rect">
            <a:avLst/>
          </a:prstGeom>
          <a:solidFill>
            <a:srgbClr val="F4B740"/>
          </a:solidFill>
          <a:ln>
            <a:solidFill>
              <a:srgbClr val="F4B740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148840"/>
            <a:ext cx="28346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順番を並べ替える。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日付順・金額順・氏名順など。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1005840" cy="347472"/>
          </a:xfrm>
          <a:prstGeom prst="rect">
            <a:avLst/>
          </a:prstGeom>
          <a:solidFill>
            <a:srgbClr val="2D6CDF"/>
          </a:solidFill>
          <a:ln>
            <a:solidFill>
              <a:srgbClr val="2D6CD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18120" y="2148840"/>
            <a:ext cx="297180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入力範囲を「表」として扱う。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見出し・フィルター・範囲拡張が楽。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4023360"/>
            <a:ext cx="8961120" cy="987552"/>
          </a:xfrm>
          <a:prstGeom prst="rect">
            <a:avLst/>
          </a:prstGeom>
          <a:solidFill>
            <a:srgbClr val="FFF4D4"/>
          </a:solidFill>
          <a:ln w="12700">
            <a:solidFill>
              <a:srgbClr val="E7C66C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最重要注意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1列だけ選んで並べ替えない。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氏名・ID・金額など、同じ行の対応関係が崩れることがあります。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シート・ブック操作の小技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複数シートや長い表を扱うときに作業の見通しをよくします。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81912" y="15910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シート移動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1912" y="188366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Ctrl＋PageDown / PageUpで隣のシートへ。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81912" y="25054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シート複製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1912" y="279806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シートタブを右クリック → 移動またはコピー。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81912" y="34198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ウィンドウ枠の固定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1912" y="371246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見出しを常に表示。固定したい位置の1つ右下を選ぶ。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566928" cy="566928"/>
          </a:xfrm>
          <a:prstGeom prst="rect">
            <a:avLst/>
          </a:prstGeom>
          <a:solidFill>
            <a:srgbClr val="D84C4C"/>
          </a:solidFill>
          <a:ln>
            <a:solidFill>
              <a:srgbClr val="D84C4C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81912" y="433425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グループ化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1912" y="4626864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複数シートへ同じ編集。終わったら必ず解除。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2926080" cy="457200"/>
          </a:xfrm>
          <a:prstGeom prst="rect">
            <a:avLst/>
          </a:prstGeom>
          <a:solidFill>
            <a:srgbClr val="D84C4C"/>
          </a:solidFill>
          <a:ln w="12700">
            <a:solidFill>
              <a:srgbClr val="D84C4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危険サイン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2423160"/>
            <a:ext cx="33832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タイトルバーやシートタブ付近に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「グループ」と出ていたら注意。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気づかず編集すると、複数シートが同時に書き換わります。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4434840"/>
            <a:ext cx="3383280" cy="566928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解除：別のシートタブをクリック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初心者がやりがちなミスと回避法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事故は「操作前の一手」でかなり防げます。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664208"/>
            <a:ext cx="4186123" cy="597408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よくあるミス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5054803" y="1664208"/>
            <a:ext cx="5780837" cy="597408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防ぎ方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868680" y="2261616"/>
            <a:ext cx="4186123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保存せずに大きく編集する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054803" y="2261616"/>
            <a:ext cx="5780837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Ctrl＋Sしてから置換・並べ替え・削除をする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868680" y="2859024"/>
            <a:ext cx="4186123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1列だけ並べ替える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5054803" y="2859024"/>
            <a:ext cx="5780837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表の中の1セルを選び、行全体の関係を保つ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868680" y="3456432"/>
            <a:ext cx="4186123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そのまま貼り付ける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5054803" y="3456432"/>
            <a:ext cx="5780837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Ctrl＋Alt＋Vで値・書式・行列入れ替えを選ぶ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868680" y="4053840"/>
            <a:ext cx="4186123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複数シートをグループ化したまま編集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5054803" y="4053840"/>
            <a:ext cx="5780837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終わったら必ずグループ解除する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868680" y="4651248"/>
            <a:ext cx="4186123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#####をエラーだと思う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5054803" y="4651248"/>
            <a:ext cx="5780837" cy="5974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まず列幅を自動調整する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3977640" y="5532120"/>
            <a:ext cx="2880360" cy="50292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迷ったら Ctrl＋Z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30分で定着させる実習メニュー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架空の名簿・売上一覧を使い、説明後すぐ手を動かします。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90472" y="147218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移動・選択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0472" y="176479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A2からCtrl＋↓、Ctrl＋Home、Ctrl＋Shift＋↓を試す。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90472" y="2276856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フィルター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0472" y="2569464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部署が「営業」の行だけ表示する。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7240" y="3090672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90472" y="308152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挿入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0472" y="3374136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「申請日」列の右側に列を1本挿入する。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77240" y="3895344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90472" y="3886200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入れ替え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0472" y="4178808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A003の行をA002の上へShift＋ドラッグで移動する。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777240" y="4700016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90472" y="4690872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フラッシュフィル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0472" y="4983480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氏名列から「姓」だけを別列に作る。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315200" y="1828800"/>
            <a:ext cx="2926080" cy="45720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最後の確認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2514600"/>
            <a:ext cx="32461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金額列をコピーし、別の場所へ「値だけ」で貼り付ける。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さらに、置換を範囲指定して1回だけ実行する。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4709160"/>
            <a:ext cx="3520440" cy="68580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講習の終点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「自分で表を壊さず直せる」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1枚チートシート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このスライドだけ印刷して、机の横に置けます。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2583180" cy="434340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場面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3332988" y="1572768"/>
            <a:ext cx="3203143" cy="434340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536131" y="1572768"/>
            <a:ext cx="4546397" cy="434340"/>
          </a:xfrm>
          <a:prstGeom prst="rect">
            <a:avLst/>
          </a:prstGeom>
          <a:solidFill>
            <a:srgbClr val="0F5F3B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覚え方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49808" y="200710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332988" y="200710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6536131" y="200710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大きな操作の前に押す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749808" y="244144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戻す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332988" y="244144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Ctrl＋Z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6536131" y="244144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迷ったら戻す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749808" y="287578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332988" y="287578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Ctrl＋F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536131" y="287578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探す時間を減らす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49808" y="331012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置換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3332988" y="331012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Ctrl＋H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536131" y="331012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範囲指定してから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749808" y="374446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端へ移動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3332988" y="374446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Ctrl＋矢印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536131" y="374446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スクロールしない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749808" y="417880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まとめて選択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3332988" y="417880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Ctrl＋Shift＋矢印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6536131" y="417880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長い表の範囲選択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749808" y="461314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値だけ貼り付け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3332988" y="461314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Ctrl＋Alt＋V → 値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6536131" y="461314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表を崩さない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49808" y="504748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差し込み移動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3332988" y="504748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Shift＋ドラッグ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6536131" y="504748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行・列の入れ替え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749808" y="5481828"/>
            <a:ext cx="2583180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列幅調整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3332988" y="5481828"/>
            <a:ext cx="3203143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列境界をダブルクリック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6536131" y="5481828"/>
            <a:ext cx="4546397" cy="4343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8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#####を直す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78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Excelの上達は、関数より先に「操作の型」を覚えると速くなります。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0927080" cy="0"/>
          </a:xfrm>
          <a:prstGeom prst="line">
            <a:avLst/>
          </a:prstGeom>
          <a:noFill/>
          <a:ln w="12700">
            <a:solidFill>
              <a:srgbClr val="C9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73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8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Excel初心者向け｜ショートカット＆小技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37392" y="641908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286000" cy="457200"/>
          </a:xfrm>
          <a:prstGeom prst="rect">
            <a:avLst/>
          </a:prstGeom>
          <a:solidFill>
            <a:srgbClr val="0F5F3B"/>
          </a:solidFill>
          <a:ln w="12700">
            <a:solidFill>
              <a:srgbClr val="0F5F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最初の優先順位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27632" y="2441448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保存して戻せる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27632" y="2734056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Ctrl＋S / Ctrl＋Z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27632" y="328269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探して絞れる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27632" y="3575304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Ctrl＋F / フィルター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914400" y="4133088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27632" y="412394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表を壊さず貼れる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27632" y="4416552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Ctrl＋Alt＋V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914400" y="4974336"/>
            <a:ext cx="566928" cy="566928"/>
          </a:xfrm>
          <a:prstGeom prst="rect">
            <a:avLst/>
          </a:prstGeom>
          <a:solidFill>
            <a:srgbClr val="1F8A5A"/>
          </a:solidFill>
          <a:ln>
            <a:solidFill>
              <a:srgbClr val="1F8A5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27632" y="496519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行・列を安全に動かせる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27632" y="525780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D6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Shift＋ドラッグ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3749040" cy="2331720"/>
          </a:xfrm>
          <a:prstGeom prst="rect">
            <a:avLst/>
          </a:prstGeom>
          <a:solidFill>
            <a:srgbClr val="DDF4E8"/>
          </a:solidFill>
          <a:ln w="12700">
            <a:solidFill>
              <a:srgbClr val="B9E4CF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今日からの使い方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まず必修15個だけを1週間使う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よく使う操作をチートシートに残す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0F5F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迷ったら保存してから試す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172200" y="4892040"/>
            <a:ext cx="4389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21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関数の前に、操作で迷わない状態へ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Excel初心者向け｜ショートカット＆小技 説明用スライド</dc:title>
  <dc:subject>Excel初心者向け ショートカットと小技 説明用スライド</dc:subject>
  <dc:creator>OpenAI</dc:creator>
  <cp:lastModifiedBy>OpenAI</cp:lastModifiedBy>
  <cp:revision>1</cp:revision>
  <dcterms:created xsi:type="dcterms:W3CDTF">2026-08-12T03:05:11Z</dcterms:created>
  <dcterms:modified xsi:type="dcterms:W3CDTF">2026-08-12T03:05:11Z</dcterms:modified>
</cp:coreProperties>
</file>